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.jpeg" ContentType="image/jpeg"/>
  <Override PartName="/ppt/media/image11.png" ContentType="image/png"/>
  <Override PartName="/ppt/media/image19.jpeg" ContentType="image/jpeg"/>
  <Override PartName="/ppt/media/image6.png" ContentType="image/png"/>
  <Override PartName="/ppt/media/image4.png" ContentType="image/png"/>
  <Override PartName="/ppt/media/image3.jpeg" ContentType="image/jpeg"/>
  <Override PartName="/ppt/media/image15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5.png" ContentType="image/png"/>
  <Override PartName="/ppt/media/image10.png" ContentType="image/png"/>
  <Override PartName="/ppt/media/image21.png" ContentType="image/png"/>
  <Override PartName="/ppt/media/image2.jpeg" ContentType="image/jpe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4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pt-BR" sz="3300" spc="-1" strike="noStrike">
                <a:solidFill>
                  <a:srgbClr val="45982f"/>
                </a:solidFill>
                <a:latin typeface="Arial"/>
              </a:rPr>
              <a:t>Click to move the slide</a:t>
            </a:r>
            <a:endParaRPr b="1" lang="pt-BR" sz="3300" spc="-1" strike="noStrike">
              <a:solidFill>
                <a:srgbClr val="45982f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Click to edit the notes format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&lt;header&gt;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&lt;date/time&gt;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&lt;footer&gt;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E9C8C27-0AF2-483F-A382-963A279EDBC5}" type="slidenum">
              <a:rPr b="0" lang="pt-BR" sz="1400" spc="-1" strike="noStrike">
                <a:latin typeface="Times New Roman"/>
              </a:rPr>
              <a:t>&lt;number&gt;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Notes4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00:25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Apresentar o trabalho como uma solução de integração embarcada, não como um produto comercial.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Boa tarde. Este trabalho apresenta o desenvolvimento de uma plataforma vestível modular multissensor baseada no ESP32-C6. O foco não foi apenas reunir sensores em um dispositivo: foi organizar hardware, tarefas, interface e serviços compartilhados de forma que os módulos permanecessem compreensíveis e que uma ausência local não impedisse as funções independentes.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Começo pelo problema que motivou essa arquitetura.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Notes26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01:05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O problema surge da interação entre módulos, não do funcionamento isolado de cada sensor.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Os sensores usam protocolos e cadências diferentes. No sistema integrado, eles passam a disputar barramento, tempo de CPU, memória e espaço de interface. Uma falha de comunicação ou uma dependência espalhada pode deixar de ser local e afetar todo o firmware. Portanto, o problema foi integrar essa heterogeneidade sem concentrar o processamento no núcleo e sem permitir que a ausência de um sensor externo bloqueasse as demais funções.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A partir desse problema, defini um objetivo orientado à arquitetura e à evidência.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Notes44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00:50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A contribuição é a organização concreta da integração, sustentada por protótipo e evidências.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O objetivo foi projetar e implementar a plataforma, integrando sensores heterogêneos, interface e serviços compartilhados, e observar estruturalmente a extensibilidade e o comportamento com módulos ausentes. A contribuição aparece em três frentes: uma arquitetura modular executável, um protótipo físico completo e uma avaliação que separa o que foi medido, o que foi observado qualitativamente e o que permaneceu fora do escopo.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Antes do firmware, apresento o hardware que efetivamente foi construído.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Notes51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01:00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Placa e invólucro pertencem ao resultado implementado, não ao roadmap.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A integração deixou a protoboard e foi transferida para uma placa protótipo autoral. O XIAO ESP32-C6 permaneceu acoplado ao Round Display e os módulos foram distribuídos na placa. Também foi fabricado um invólucro por impressão 3D. As renderizações mostram as duas faces previstas e a fotografia registra a placa em funcionamento. A caracterização mecânica e ambiental do invólucro não integrou os ensaios, mas a construção foi realizada.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O desenvolvimento desse conjunto seguiu um ciclo incremental e regressivo.</a:t>
            </a:r>
            <a:endParaRPr b="0" lang="pt-BR" sz="1300" spc="-1" strike="noStrike">
              <a:latin typeface="Arial"/>
            </a:endParaRPr>
          </a:p>
          <a:p>
            <a:r>
              <a:rPr b="1" lang="pt-BR" sz="1200" spc="-1" strike="noStrike">
                <a:solidFill>
                  <a:srgbClr val="c62828"/>
                </a:solidFill>
                <a:latin typeface="Arial"/>
              </a:rPr>
              <a:t>Corte: Se o tempo estiver acima do planejado, omitir a descrição individual das faces da placa.</a:t>
            </a:r>
            <a:endParaRPr b="0" lang="pt-BR" sz="12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Notes55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00:35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O método articula evidência isolada, integração e regressão em um ciclo de retorno.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Esta é a visão completa do método. Ele está organizado em três faixas de evidência: primeiro o componente é compreendido e verificado isoladamente; depois suas responsabilidades são separadas e ele é integrado à plataforma; por fim, as funções existentes passam por regressão. Os retornos tracejados mostram que um conflito faz o trabalho voltar à etapa responsável, em vez de seguir adiante com uma integração instável.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Amplio primeiro a faixa que produz a evidência de teste isolado.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Notes68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00:35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O módulo só avança após aquisição e tratamento funcionarem fora do firmware integrado.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O primeiro recorte começa no datasheet e na interface elétrica ou lógica do componente. Em seguida, o teste standalone permite controlar configuração, comunicação e dados brutos com poucas variáveis externas. A terceira etapa verifica aquisição e tratamento isolados e produz uma evidência específica daquele módulo. Essa separação ajuda a distinguir um defeito do sensor ou do driver de um conflito introduzido pela integração.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Com a evidência isolada, o trabalho passa à estruturação, integração e regressão.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Notes72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00:35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A integração separa responsabilidades e sempre termina em regressão das funções existentes.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No segundo recorte, o código é dividido entre driver, processamento e apresentação, adaptado ao contrato comum e integrado ao núcleo e à interface. Depois vêm inicialização, resposta da interface, logs e continuidade das funções já existentes. Se aparecer conflito de barramento, temporização, memória ou interface, o diagnóstico define o ponto de retorno. Esse ciclo foi influenciado pela minha experiência com testes e regressão em sistemas embarcados.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O resultado desse processo é a arquitetura implementada.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Notes76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01:25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O núcleo compõe e coordena; cada módulo conserva hardware, processamento, estado e tela.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No nível superior, o núcleo inicializa serviços, cria menus e despacha a atualização da tela ativa. Os módulos sensoriais possuem driver, processamento e apresentação próprios. O I²C, o LVGL e a NVS aparecem como serviços compartilhados. O contrato recorrente é inicializar, criar e exibir. Essa composição é explícita em main.c: trata-se de modularidade estática e localizada, não de um sistema de plugins descobertos automaticamente.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Como o ESP32-C6 está em configuração unicore, essa arquitetura também depende de concorrência bem coordenada.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Notes95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01:20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Prioridades preservam a interface; mutex e recuperação protegem o recurso compartilhado.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O FreeRTOS opera em um único núcleo. A tarefa gráfica tem prioridade 4, as aquisições prioridade 3 e a captura prioridade 2. O I²C é compartilhado pelo toque, RTC e sensores. Cada driver recebe o mesmo mutex, que oferece herança de prioridade. Após erro de transação, o firmware reinicializa o controlador do barramento. Antes de criar o driver, também tenta liberar SDA presa com pulsos em SCL e uma condição de parada.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Com essa infraestrutura, a integração de módulos pode ser analisada de forma localizada.</a:t>
            </a:r>
            <a:endParaRPr b="0" lang="pt-BR" sz="1300" spc="-1" strike="noStrike">
              <a:latin typeface="Arial"/>
            </a:endParaRPr>
          </a:p>
          <a:p>
            <a:r>
              <a:rPr b="1" lang="pt-BR" sz="1200" spc="-1" strike="noStrike">
                <a:solidFill>
                  <a:srgbClr val="c62828"/>
                </a:solidFill>
                <a:latin typeface="Arial"/>
              </a:rPr>
              <a:t>Corte: Se houver atraso, citar apenas prioridades 4 e 3 e resumir a recuperação em uma frase.</a:t>
            </a:r>
            <a:endParaRPr b="0" lang="pt-BR" sz="12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Notes111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00:40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A modularidade foi sustentada por reutilização, pontos de integração explícitos e ensaios com sensores ausentes.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A visão completa transforma o método em um procedimento concreto para acrescentar sensores. O fluxo parte dos requisitos, passa pelo teste isolado e pela composição explícita no núcleo, e termina em compilação, teste com o sensor ausente e regressão. Ao lado estão as três evidências usadas neste trabalho: 678 linhas reutilizadas, seis pontos externos de composição e operação preservada nos arranjos de sensores ausentes.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Agora amplio como o módulo é preparado e composto na plataforma.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Notes115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00:40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Um novo sensor entra pela borda do sistema e adere a contratos e serviços já definidos.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Neste recorte, primeiro são definidos interface, alimentação, pinos, endereço e período de aquisição. O standalone verifica detecção, leitura e tratamento de erro. O módulo então separa hardware, processamento e tela. Se utilizar um recurso comum, recebe os handles e mecanismos existentes; se tiver transporte próprio, o acesso permanece encapsulado. Por fim, o núcleo compõe ciclo de vida, menu, callback, atualização da tela e diretórios de build. Os pontos externos são explícitos e localizados.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A última faixa verifica se essa extensão permanece contida quando o sensor não está disponível.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Notes128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00:40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A ausência do sensor é testada antes de aprovar a regressão das funções existentes.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Depois de compilar e inicializar, o procedimento remove o sensor e verifica se a indisponibilidade fica contida. No projeto, cada componente externo foi removido individualmente e também em diferentes arranjos. Nessas condições, não ocorreram panic, watchdog ou reinicialização espontânea, e as funções independentes continuaram operando. A aprovação não significa tolerância universal a falhas: significa que a ausência física ensaiada não bloqueou o núcleo nem os demais módulos. Se a regressão falhar, o fluxo retorna à etapa responsável.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Com o caminho de extensão e contenção definido, mostro o sistema em execução.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Notes143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01:50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Mostrar a integração real por uma rota curta e previsível.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A demonstração começa na tela principal. Abro o menu e percorro as quatro páginas para mostrar a organização funcional. Em VITAIS, abro o PPG e inicio a aquisição. Enquanto o estimador de DC converge, observo que a FIFO desacopla a taxa de amostragem das transações e que o processamento separa DC e AC em uma tarefa própria. Se não houver valor em doze segundos, sigo sem esperar. Depois retorno, abro a bússola e giro o protótipo para mostrar a resposta direcional.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A demonstração mostra execução; agora apresento como essa solução foi avaliada.</a:t>
            </a:r>
            <a:endParaRPr b="0" lang="pt-BR" sz="1300" spc="-1" strike="noStrike">
              <a:latin typeface="Arial"/>
            </a:endParaRPr>
          </a:p>
          <a:p>
            <a:r>
              <a:rPr b="1" lang="pt-BR" sz="1200" spc="-1" strike="noStrike">
                <a:solidFill>
                  <a:srgbClr val="c62828"/>
                </a:solidFill>
                <a:latin typeface="Arial"/>
              </a:rPr>
              <a:t>Corte: Se o protótipo falhar, narrar as três capturas deste slide em no máximo 25 segundos.</a:t>
            </a:r>
            <a:endParaRPr b="0" lang="pt-BR" sz="1200" spc="-1" strike="noStrike"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Notes159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01:15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A avaliação combinou estrutura do código, enquadramento de recursos e ensaios funcionais.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A análise estática verificou contrato, dependências e reutilização. O build limpo verificou o enquadramento global na partição: 784.240 bytes, ou 74,79 por cento de um mebibyte. Os ensaios funcionais verificaram interface, sensores, RTC, corrente e operação degradada. CPU e heap por cenário, falhas I²C induzidas e descarga completa não foram medidos e não são apresentados como resultados.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Primeiro, mostro o resultado do módulo com o pipeline mais complexo: o PPG.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Notes167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01:25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A estimativa DC acompanhou a linha de base; o passa-baixa limitou a banda, mas teve efeito global discreto neste registro.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No painel superior, o eixo vertical representa contagens do conversor, e não batimentos por minuto. Portanto, cerca de 86 mil contagens não significam 86 BPM: esse valor representa a intensidade óptica infravermelha recebida pelo sensor. A linha preta é o IR bruto e a linha âmbar é a estimativa DC, que acompanha as variações lentas da linha de base. A pulsação aparece como uma pequena modulação sobre esse nível elevado, e a frequência cardíaca é obtida pelo intervalo entre pulsos, não pela amplitude do ADC. No painel inferior, comparo o conteúdo espectral antes e depois do passa-baixa na mesma escala. Na faixa analisada, as curvas permanecem próximas; acima do corte de 5 hertz, a curva vermelha apresenta menor potência. A componente principal próxima de 1,40 hertz equivale a aproximadamente 84 BPM, porque 1,40 vezes 60 resulta em 84. Somente 2,2 por cento da energia do IR estava acima de 5 hertz, por isso o efeito global foi discreto. Entre 5 e 10 hertz, a potência foi reduzida em aproximadamente 5,7 decibéis, enquanto cerca de 98 por cento do RMS foi preservado. Assim, os gráficos comprovam o acompanhamento da linha de base e a limitação de banda, mas não demonstram ganho de exatidão no detector, pois ele não foi comparado de forma controlada com e sem esse filtro.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Os demais sensores foram avaliados com protocolos proporcionais às suas grandezas.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Notes186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02:00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Todos responderam às grandezas; o alcance de cada resultado permanece delimitado pelo procedimento.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Na temperatura, o DS18B20 indicou 22,5 graus e o comparador 23,4, diferença de menos 0,9 grau em um único ponto, além de responder a aquecimento e resfriamento. O LTR390 acompanhou cerca de cinco ordens de grandeza e saturou próximo de 52 quilolux na configuração usada. Na bússola, as duas orientações diferiram 16 e 22 graus da comparação magnética. No percurso de 100 metros, a contagem manual foi 140 e o protótipo registrou 131 e 133 passos. São evidências funcionais, não generalizações populacionais ou metrológicas.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Além dos sensores, foram observados RTC e consumo total do sistema.</a:t>
            </a:r>
            <a:endParaRPr b="0" lang="pt-BR" sz="1300" spc="-1" strike="noStrike">
              <a:latin typeface="Arial"/>
            </a:endParaRPr>
          </a:p>
          <a:p>
            <a:r>
              <a:rPr b="1" lang="pt-BR" sz="1200" spc="-1" strike="noStrike">
                <a:solidFill>
                  <a:srgbClr val="c62828"/>
                </a:solidFill>
                <a:latin typeface="Arial"/>
              </a:rPr>
              <a:t>Corte: Se houver atraso, dizer apenas a métrica grande e a limitação de cada cartão.</a:t>
            </a:r>
            <a:endParaRPr b="0" lang="pt-BR" sz="1200" spc="-1" strike="noStrike"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Notes198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01:00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O RTC manteve a base temporal; a corrente total variou conforme o cenário, sem ensaio de descarga.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Depois de 24 horas com o sistema desligado, a bateria CR927 preservou o RTC e foi observado atraso próximo de dois segundos. A corrente total variou de 90 miliampères na tela PPG parada a 210 miliampères com o PPG medindo. Esses valores caracterizam cenários completos; não isolam o consumo de cada sensor. Como não houve descarga completa, não apresento autonomia medida.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Essas limitações conduzem diretamente ao roadmap.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Notes213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01:20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Cada proposta futura deriva de uma limitação observada ou de uma expansão tecnicamente compatível.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A primeira prioridade é caracterizar robustez: CPU, heap, memória incremental, falhas I²C induzidas, ensaio prolongado e descarga. Em energia, devem ser avaliados backlight, desligamento seletivo, sono e contador de coulombs. Em expansão, microSD exige resolver o conflito do GPIO20 com o DS18B20 e coordenar o SPI; Wi-Fi e Bluetooth exigem medir consumo e concorrência; RTK depende de antena e fonte de correções. Nos algoritmos, entram tilt compensation, calibração magnética matricial, persistência do pedômetro e qualidade do PPG.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Com esse alcance definido, retomo o que foi efetivamente concluído.</a:t>
            </a:r>
            <a:endParaRPr b="0" lang="pt-BR" sz="1300" spc="-1" strike="noStrike">
              <a:latin typeface="Arial"/>
            </a:endParaRPr>
          </a:p>
          <a:p>
            <a:r>
              <a:rPr b="1" lang="pt-BR" sz="1200" spc="-1" strike="noStrike">
                <a:solidFill>
                  <a:srgbClr val="c62828"/>
                </a:solidFill>
                <a:latin typeface="Arial"/>
              </a:rPr>
              <a:t>Corte: Aos 18:30, encerrar este slide após citar as quatro frentes, sem detalhar microSD ou RTK.</a:t>
            </a:r>
            <a:endParaRPr b="0" lang="pt-BR" sz="1200" spc="-1" strike="noStrike"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Notes229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01:10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O objetivo foi atingido como plataforma de integração modular, com evidências coerentes com o escopo.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O trabalho entregou uma plataforma vestível funcional, com placa protótipo, invólucro e quatro páginas de interface. A arquitetura separou núcleo, serviços, drivers, processamento e telas. O estudo do MAX30102 mostrou reutilização localizada; o build coube na partição; e a remoção individual e combinada dos sensores externos não impediu as funções independentes nas condições ensaiadas. Os ensaios sensoriais demonstraram funcionamento e orientaram limitações concretas. Assim, a principal contribuição é uma base executável e evolutiva para integração multissensor no ESP32-C6.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Obrigado. Fico à disposição para as perguntas.</a:t>
            </a:r>
            <a:endParaRPr b="0" lang="pt-BR" sz="1300" spc="-1" strike="noStrike">
              <a:latin typeface="Arial"/>
            </a:endParaRPr>
          </a:p>
          <a:p>
            <a:r>
              <a:rPr b="1" lang="pt-BR" sz="1200" spc="-1" strike="noStrike">
                <a:solidFill>
                  <a:srgbClr val="c62828"/>
                </a:solidFill>
                <a:latin typeface="Arial"/>
              </a:rPr>
              <a:t>Corte: Aos 19:30, usar apenas: objetivo atingido, arquitetura implementada, build enquadrado e contenção funcional observada.</a:t>
            </a:r>
            <a:endParaRPr b="0" lang="pt-BR" sz="1200" spc="-1" strike="noStrike"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Notes235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Tempo-alvo: 00:10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Encerrar sem acrescentar conteúdo novo.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Obrigado. Fico à disposição para as perguntas.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Usar os slides de apoio conforme o tema levantado pela banca.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Notes240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Slide de apoio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Confirmar as quatro páginas e os retornos das telas.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A interface possui quatro páginas: VITAIS, LUZ/UV, MOVIMENTO e CONFIGS. Cada tela retorna à página que a originou; calibração, hora e data são fluxos auxiliares.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Retornar à pergunta da banca.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Notes245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Slide de apoio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Responder perguntas de RTOS sem afirmar paralelismo ou deadline rígido.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FreeRTOS unicore, tick de 100 Hz. LVGL prioridade 4; aquisições prioridade 3; captura prioridade 2; idle prioridade 0. O despacho da tela ativa ocorre a cada 500 ms. Não houve análise formal de pior caso.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Retornar à pergunta da banca.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Notes251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Slide de apoio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Distinguir open-drain, exclusão mútua e recuperação do controlador.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O barramento opera a 100 kHz em GPIO22/23. Open-drain depende de pull-up e tempo de subida RC. O mutex resolve concorrência de software; a recuperação trata linha/controlador após falha. A taxa de sucesso sob falhas deliberadamente induzidas não foi medida.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Retornar à pergunta da banca.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Notes280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Slide de apoio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Fornecer os valores confirmados no firmware final.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Usar esta lâmina apenas quando a banca pedir parâmetros. Não misturar valores dos projetos standalone com a integração final.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Retornar à pergunta da banca.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Notes286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Slide de apoio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Explicar o que a correção diagonal faz e o que ela não faz.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A coleta cobre 12 setores e atualiza mínimos e máximos. Offsets recentram a nuvem e escalas diagonais equalizam os eixos. Não há matriz completa de soft-iron nem tilt compensation. Cancelar preserva a calibração válida.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Retornar à pergunta da banca.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Notes317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Slide de apoio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Separar capacidade física, partição, imagem, mapa estático e heap dinâmico.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A placa possui 4 MiB físicos; a configuração usa tabela single-app e partição de 1 MiB. O binário ocupa 784.240 bytes. O mapa estático de DIRAM não equivale ao heap livre, e não foi medido incremento por módulo.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Retornar à pergunta da banca.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Notes349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Slide de apoio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Responder com a categoria correta de evidência para cada resultado.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Os instrumentos de consumo não formam cadeia metrológica rastreável. O alcance correto varia entre análise estática, teste funcional, comparação de plausibilidade e medição de corrente total.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Retornar à pergunta da banca.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Notes359"/>
          <p:cNvSpPr txBox="1"/>
          <p:nvPr/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Slide de apoio</a:t>
            </a:r>
            <a:endParaRPr b="0" lang="pt-BR" sz="13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Mensagem: Indicar as fontes primárias usadas nas decisões e conceitos.</a:t>
            </a:r>
            <a:endParaRPr b="0" lang="pt-BR" sz="13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As referências completas e os acessos em 1º de julho de 2026 constam na monografia.</a:t>
            </a:r>
            <a:endParaRPr b="0" lang="pt-BR" sz="1200" spc="-1" strike="noStrike">
              <a:latin typeface="Arial"/>
            </a:endParaRPr>
          </a:p>
          <a:p>
            <a:r>
              <a:rPr b="1" lang="pt-BR" sz="1300" spc="-1" strike="noStrike">
                <a:solidFill>
                  <a:srgbClr val="00796b"/>
                </a:solidFill>
                <a:latin typeface="Arial"/>
              </a:rPr>
              <a:t>Transição: Retornar à pergunta da banca.</a:t>
            </a:r>
            <a:endParaRPr b="0" lang="pt-BR" sz="13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0F16A3-EDC9-4A8B-9656-B645B3D5E1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pt-BR" sz="3300" spc="-1" strike="noStrike">
              <a:solidFill>
                <a:srgbClr val="45982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60000" y="1944000"/>
            <a:ext cx="9216000" cy="32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6F958B-4F8D-4A44-9041-99DF6F6B9F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pt-BR" sz="3300" spc="-1" strike="noStrike">
              <a:solidFill>
                <a:srgbClr val="45982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944000"/>
            <a:ext cx="9216000" cy="32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24618B-F1D1-4C1B-ACDF-73C9B24619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pt-BR" sz="3300" spc="-1" strike="noStrike">
              <a:solidFill>
                <a:srgbClr val="45982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60000" y="1944000"/>
            <a:ext cx="4497120" cy="32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082480" y="1944000"/>
            <a:ext cx="4497120" cy="32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2C9CD7-70FF-4F3A-9D89-AB4BBF10FA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pt-BR" sz="3300" spc="-1" strike="noStrike">
              <a:solidFill>
                <a:srgbClr val="45982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69B5A8-8FA6-4717-B18A-8C3CD17B8F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1584000" y="709200"/>
            <a:ext cx="7991640" cy="439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12EBB2-DFD5-431E-8423-331CAB328A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pt-BR" sz="3300" spc="-1" strike="noStrike">
              <a:solidFill>
                <a:srgbClr val="45982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60000" y="1944000"/>
            <a:ext cx="449712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82480" y="1944000"/>
            <a:ext cx="4497120" cy="32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360000" y="3626280"/>
            <a:ext cx="449712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8ADA23-C5A8-4B34-9AC1-505E20D40E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pt-BR" sz="3300" spc="-1" strike="noStrike">
              <a:solidFill>
                <a:srgbClr val="45982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60000" y="1944000"/>
            <a:ext cx="4497120" cy="32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082480" y="1944000"/>
            <a:ext cx="449712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82480" y="3626280"/>
            <a:ext cx="449712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4F5A45-E082-496E-A53E-28776420C7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pt-BR" sz="3300" spc="-1" strike="noStrike">
              <a:solidFill>
                <a:srgbClr val="45982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944000"/>
            <a:ext cx="449712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082480" y="1944000"/>
            <a:ext cx="449712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360000" y="3626280"/>
            <a:ext cx="921600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15DA73-9FE6-4AA5-853D-FB5D4C61B6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pt-BR" sz="3300" spc="-1" strike="noStrike">
              <a:solidFill>
                <a:srgbClr val="45982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0000" y="1944000"/>
            <a:ext cx="921600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360000" y="3626280"/>
            <a:ext cx="921600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075B7D-8AE3-4D2C-99D3-922A96984C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pt-BR" sz="3300" spc="-1" strike="noStrike">
              <a:solidFill>
                <a:srgbClr val="45982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60000" y="1944000"/>
            <a:ext cx="449712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082480" y="1944000"/>
            <a:ext cx="449712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360000" y="3626280"/>
            <a:ext cx="449712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082480" y="3626280"/>
            <a:ext cx="449712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3F327C-F831-487D-AD50-40043CD4CA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pt-BR" sz="3300" spc="-1" strike="noStrike">
              <a:solidFill>
                <a:srgbClr val="45982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944000"/>
            <a:ext cx="296748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476160" y="1944000"/>
            <a:ext cx="296748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592320" y="1944000"/>
            <a:ext cx="296748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360000" y="3626280"/>
            <a:ext cx="296748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476160" y="3626280"/>
            <a:ext cx="296748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592320" y="3626280"/>
            <a:ext cx="296748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4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FC5697-659F-4557-B32E-42E9FB3FE5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71218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pt-BR" sz="3300" spc="-1" strike="noStrike">
                <a:solidFill>
                  <a:srgbClr val="45982f"/>
                </a:solidFill>
                <a:latin typeface="Arial"/>
              </a:rPr>
              <a:t>Clique para editar o formato do texto do título</a:t>
            </a:r>
            <a:endParaRPr b="1" lang="pt-BR" sz="3300" spc="-1" strike="noStrike">
              <a:solidFill>
                <a:srgbClr val="45982f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1944000"/>
            <a:ext cx="9216000" cy="32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Click to edit the outline text format</a:t>
            </a:r>
            <a:endParaRPr b="0" lang="pt-BR" sz="2400" spc="-1" strike="noStrike"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100" spc="-1" strike="noStrike">
                <a:latin typeface="Arial"/>
              </a:rPr>
              <a:t>Second Outline Level</a:t>
            </a:r>
            <a:endParaRPr b="0" lang="pt-BR" sz="2100" spc="-1" strike="noStrike">
              <a:latin typeface="Arial"/>
            </a:endParaRPr>
          </a:p>
          <a:p>
            <a:pPr lvl="2" marL="1296000" indent="-288000">
              <a:spcAft>
                <a:spcPts val="62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Third Outline Level</a:t>
            </a:r>
            <a:endParaRPr b="0" lang="pt-BR" sz="1800" spc="-1" strike="noStrike">
              <a:latin typeface="Arial"/>
            </a:endParaRPr>
          </a:p>
          <a:p>
            <a:pPr lvl="3" marL="1728000" indent="-216000">
              <a:spcAft>
                <a:spcPts val="41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500" spc="-1" strike="noStrike">
                <a:latin typeface="Arial"/>
              </a:rPr>
              <a:t>Fourth Outline Level</a:t>
            </a:r>
            <a:endParaRPr b="0" lang="pt-BR" sz="1500" spc="-1" strike="noStrike">
              <a:latin typeface="Arial"/>
            </a:endParaRPr>
          </a:p>
          <a:p>
            <a:pPr lvl="4" marL="2160000" indent="-216000">
              <a:spcAft>
                <a:spcPts val="20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latin typeface="Arial"/>
              </a:rPr>
              <a:t>Fifth Outline Level</a:t>
            </a:r>
            <a:endParaRPr b="0" lang="pt-BR" sz="1500" spc="-1" strike="noStrike">
              <a:latin typeface="Arial"/>
            </a:endParaRPr>
          </a:p>
          <a:p>
            <a:pPr lvl="5" marL="2592000" indent="-216000">
              <a:spcAft>
                <a:spcPts val="20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latin typeface="Arial"/>
              </a:rPr>
              <a:t>Sixth Outline Level</a:t>
            </a:r>
            <a:endParaRPr b="0" lang="pt-BR" sz="1500" spc="-1" strike="noStrike">
              <a:latin typeface="Arial"/>
            </a:endParaRPr>
          </a:p>
          <a:p>
            <a:pPr lvl="6" marL="3024000" indent="-216000">
              <a:spcAft>
                <a:spcPts val="20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latin typeface="Arial"/>
              </a:rPr>
              <a:t>Seventh Outline Level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516456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&lt;date/time&gt;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516456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&lt;footer&gt;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56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849F77F-4033-4A38-B239-007A4A23BC66}" type="slidenum">
              <a:rPr b="0" lang="pt-BR" sz="1400" spc="-1" strike="noStrike">
                <a:latin typeface="Times New Roman"/>
              </a:rPr>
              <a:t>&lt;number&gt;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1"/>
          <p:cNvSpPr txBox="1"/>
          <p:nvPr/>
        </p:nvSpPr>
        <p:spPr>
          <a:xfrm>
            <a:off x="1656000" y="1080000"/>
            <a:ext cx="5292000" cy="157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500" spc="-1" strike="noStrike">
                <a:solidFill>
                  <a:srgbClr val="263238"/>
                </a:solidFill>
                <a:latin typeface="Arial"/>
              </a:rPr>
              <a:t>Desenvolvimento de uma plataforma</a:t>
            </a:r>
            <a:endParaRPr b="0" lang="pt-BR" sz="2500" spc="-1" strike="noStrike">
              <a:latin typeface="Arial"/>
            </a:endParaRPr>
          </a:p>
          <a:p>
            <a:r>
              <a:rPr b="1" lang="pt-BR" sz="2500" spc="-1" strike="noStrike">
                <a:solidFill>
                  <a:srgbClr val="263238"/>
                </a:solidFill>
                <a:latin typeface="Arial"/>
              </a:rPr>
              <a:t>vestível modular multissensor</a:t>
            </a:r>
            <a:endParaRPr b="0" lang="pt-BR" sz="2500" spc="-1" strike="noStrike">
              <a:latin typeface="Arial"/>
            </a:endParaRPr>
          </a:p>
          <a:p>
            <a:r>
              <a:rPr b="1" lang="pt-BR" sz="2500" spc="-1" strike="noStrike">
                <a:solidFill>
                  <a:srgbClr val="263238"/>
                </a:solidFill>
                <a:latin typeface="Arial"/>
              </a:rPr>
              <a:t>baseada no ESP32-C6</a:t>
            </a:r>
            <a:endParaRPr b="0" lang="pt-BR" sz="2500" spc="-1" strike="noStrike">
              <a:latin typeface="Arial"/>
            </a:endParaRPr>
          </a:p>
        </p:txBody>
      </p:sp>
      <p:sp>
        <p:nvSpPr>
          <p:cNvPr id="49" name="Text2"/>
          <p:cNvSpPr txBox="1"/>
          <p:nvPr/>
        </p:nvSpPr>
        <p:spPr>
          <a:xfrm>
            <a:off x="1692000" y="2538000"/>
            <a:ext cx="4932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700" spc="-1" strike="noStrike">
                <a:solidFill>
                  <a:srgbClr val="00796b"/>
                </a:solidFill>
                <a:latin typeface="Arial"/>
              </a:rPr>
              <a:t>Guilherme da Costa Franco</a:t>
            </a:r>
            <a:endParaRPr b="0" lang="pt-BR" sz="1700" spc="-1" strike="noStrike">
              <a:latin typeface="Arial"/>
            </a:endParaRPr>
          </a:p>
          <a:p>
            <a:r>
              <a:rPr b="0" lang="pt-BR" sz="2200" spc="-1" strike="noStrike">
                <a:solidFill>
                  <a:srgbClr val="263238"/>
                </a:solidFill>
                <a:latin typeface="Arial"/>
              </a:rPr>
              <a:t>Engenharia Eletrônica</a:t>
            </a:r>
            <a:endParaRPr b="0" lang="pt-BR" sz="2200" spc="-1" strike="noStrike">
              <a:latin typeface="Arial"/>
            </a:endParaRPr>
          </a:p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Orientador: Prof. Me. Leandro Schwarz</a:t>
            </a:r>
            <a:endParaRPr b="0" lang="pt-BR" sz="1300" spc="-1" strike="noStrike">
              <a:latin typeface="Arial"/>
            </a:endParaRPr>
          </a:p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IFSC — Câmpus Florianópolis · 2026</a:t>
            </a:r>
            <a:endParaRPr b="0" lang="pt-BR" sz="1300" spc="-1" strike="noStrike">
              <a:latin typeface="Arial"/>
            </a:endParaRPr>
          </a:p>
        </p:txBody>
      </p:sp>
      <p:pic>
        <p:nvPicPr>
          <p:cNvPr id="50" name="Image3" descr=""/>
          <p:cNvPicPr/>
          <p:nvPr/>
        </p:nvPicPr>
        <p:blipFill>
          <a:blip r:embed="rId1"/>
          <a:stretch/>
        </p:blipFill>
        <p:spPr>
          <a:xfrm>
            <a:off x="7057800" y="1134000"/>
            <a:ext cx="2084760" cy="3708000"/>
          </a:xfrm>
          <a:prstGeom prst="rect">
            <a:avLst/>
          </a:prstGeom>
          <a:ln w="12600">
            <a:solidFill>
              <a:srgbClr val="45982f"/>
            </a:solidFill>
            <a:round/>
          </a:ln>
        </p:spPr>
      </p:pic>
      <p:sp>
        <p:nvSpPr>
          <p:cNvPr id="51" name="Text5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 da fotografia: acervo do autor (2026).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6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Problema de engenharia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53" name="Rect7"/>
          <p:cNvSpPr/>
          <p:nvPr/>
        </p:nvSpPr>
        <p:spPr>
          <a:xfrm>
            <a:off x="504000" y="1170000"/>
            <a:ext cx="1908000" cy="1080000"/>
          </a:xfrm>
          <a:prstGeom prst="rect">
            <a:avLst/>
          </a:prstGeom>
          <a:solidFill>
            <a:srgbClr val="fceeee"/>
          </a:solidFill>
          <a:ln w="12600">
            <a:solidFill>
              <a:srgbClr val="c62828"/>
            </a:solidFill>
            <a:round/>
          </a:ln>
        </p:spPr>
      </p:sp>
      <p:sp>
        <p:nvSpPr>
          <p:cNvPr id="54" name="Text8"/>
          <p:cNvSpPr txBox="1"/>
          <p:nvPr/>
        </p:nvSpPr>
        <p:spPr>
          <a:xfrm>
            <a:off x="630000" y="1285200"/>
            <a:ext cx="1656000" cy="5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500" spc="-1" strike="noStrike">
                <a:solidFill>
                  <a:srgbClr val="00796b"/>
                </a:solidFill>
                <a:latin typeface="Arial"/>
              </a:rPr>
              <a:t>Sinais fisiológicos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5" name="Text9"/>
          <p:cNvSpPr txBox="1"/>
          <p:nvPr/>
        </p:nvSpPr>
        <p:spPr>
          <a:xfrm>
            <a:off x="630000" y="1656000"/>
            <a:ext cx="1656000" cy="51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400" spc="-1" strike="noStrike">
                <a:solidFill>
                  <a:srgbClr val="263238"/>
                </a:solidFill>
                <a:latin typeface="Arial"/>
              </a:rPr>
              <a:t>MAX30102</a:t>
            </a:r>
            <a:endParaRPr b="0" lang="pt-BR" sz="1400" spc="-1" strike="noStrike">
              <a:latin typeface="Arial"/>
            </a:endParaRPr>
          </a:p>
          <a:p>
            <a:r>
              <a:rPr b="0" lang="pt-BR" sz="1400" spc="-1" strike="noStrike">
                <a:solidFill>
                  <a:srgbClr val="263238"/>
                </a:solidFill>
                <a:latin typeface="Arial"/>
              </a:rPr>
              <a:t>PPG · FC · SpO₂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56" name="Rect10"/>
          <p:cNvSpPr/>
          <p:nvPr/>
        </p:nvSpPr>
        <p:spPr>
          <a:xfrm>
            <a:off x="504000" y="2520000"/>
            <a:ext cx="1908000" cy="1206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57" name="Text11"/>
          <p:cNvSpPr txBox="1"/>
          <p:nvPr/>
        </p:nvSpPr>
        <p:spPr>
          <a:xfrm>
            <a:off x="630000" y="2635200"/>
            <a:ext cx="165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Ambiente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8" name="Text12"/>
          <p:cNvSpPr txBox="1"/>
          <p:nvPr/>
        </p:nvSpPr>
        <p:spPr>
          <a:xfrm>
            <a:off x="630000" y="2916000"/>
            <a:ext cx="1656000" cy="91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400" spc="-1" strike="noStrike">
                <a:solidFill>
                  <a:srgbClr val="263238"/>
                </a:solidFill>
                <a:latin typeface="Arial"/>
              </a:rPr>
              <a:t>DS18B20 · LTR390</a:t>
            </a:r>
            <a:endParaRPr b="0" lang="pt-BR" sz="1400" spc="-1" strike="noStrike">
              <a:latin typeface="Arial"/>
            </a:endParaRPr>
          </a:p>
          <a:p>
            <a:r>
              <a:rPr b="0" lang="pt-BR" sz="1400" spc="-1" strike="noStrike">
                <a:solidFill>
                  <a:srgbClr val="263238"/>
                </a:solidFill>
                <a:latin typeface="Arial"/>
              </a:rPr>
              <a:t>temperatura · luz · UV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59" name="Rect13"/>
          <p:cNvSpPr/>
          <p:nvPr/>
        </p:nvSpPr>
        <p:spPr>
          <a:xfrm>
            <a:off x="504000" y="3870000"/>
            <a:ext cx="1908000" cy="1008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60" name="Text14"/>
          <p:cNvSpPr txBox="1"/>
          <p:nvPr/>
        </p:nvSpPr>
        <p:spPr>
          <a:xfrm>
            <a:off x="630000" y="3985200"/>
            <a:ext cx="165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Movimento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61" name="Text15"/>
          <p:cNvSpPr txBox="1"/>
          <p:nvPr/>
        </p:nvSpPr>
        <p:spPr>
          <a:xfrm>
            <a:off x="630000" y="4266000"/>
            <a:ext cx="1656000" cy="52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400" spc="-1" strike="noStrike">
                <a:solidFill>
                  <a:srgbClr val="263238"/>
                </a:solidFill>
                <a:latin typeface="Arial"/>
              </a:rPr>
              <a:t>MPU/AK8963</a:t>
            </a:r>
            <a:endParaRPr b="0" lang="pt-BR" sz="1400" spc="-1" strike="noStrike">
              <a:latin typeface="Arial"/>
            </a:endParaRPr>
          </a:p>
          <a:p>
            <a:r>
              <a:rPr b="0" lang="pt-BR" sz="1400" spc="-1" strike="noStrike">
                <a:solidFill>
                  <a:srgbClr val="263238"/>
                </a:solidFill>
                <a:latin typeface="Arial"/>
              </a:rPr>
              <a:t>heading · passos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62" name="Text16"/>
          <p:cNvSpPr txBox="1"/>
          <p:nvPr/>
        </p:nvSpPr>
        <p:spPr>
          <a:xfrm>
            <a:off x="2520000" y="2574000"/>
            <a:ext cx="432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3000" spc="-1" strike="noStrike">
                <a:solidFill>
                  <a:srgbClr val="f9a825"/>
                </a:solidFill>
                <a:latin typeface="Arial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63" name="Rect17"/>
          <p:cNvSpPr/>
          <p:nvPr/>
        </p:nvSpPr>
        <p:spPr>
          <a:xfrm>
            <a:off x="2916000" y="1854000"/>
            <a:ext cx="2916000" cy="2016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64" name="Text18"/>
          <p:cNvSpPr txBox="1"/>
          <p:nvPr/>
        </p:nvSpPr>
        <p:spPr>
          <a:xfrm>
            <a:off x="3042000" y="1969200"/>
            <a:ext cx="266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Recursos comuns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65" name="Text19"/>
          <p:cNvSpPr txBox="1"/>
          <p:nvPr/>
        </p:nvSpPr>
        <p:spPr>
          <a:xfrm>
            <a:off x="3042000" y="2250000"/>
            <a:ext cx="2664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00796b"/>
                </a:solidFill>
                <a:latin typeface="Arial"/>
              </a:rPr>
              <a:t>INTEGRAÇÃO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66" name="Text20"/>
          <p:cNvSpPr txBox="1"/>
          <p:nvPr/>
        </p:nvSpPr>
        <p:spPr>
          <a:xfrm>
            <a:off x="3042000" y="2581200"/>
            <a:ext cx="2664000" cy="11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I²C e SPI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FreeRTOS e prioridades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LVGL e memória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NVS e RTC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67" name="Text21"/>
          <p:cNvSpPr txBox="1"/>
          <p:nvPr/>
        </p:nvSpPr>
        <p:spPr>
          <a:xfrm>
            <a:off x="5922000" y="2574000"/>
            <a:ext cx="432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3000" spc="-1" strike="noStrike">
                <a:solidFill>
                  <a:srgbClr val="f9a825"/>
                </a:solidFill>
                <a:latin typeface="Arial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68" name="Rect22"/>
          <p:cNvSpPr/>
          <p:nvPr/>
        </p:nvSpPr>
        <p:spPr>
          <a:xfrm>
            <a:off x="6372000" y="1494000"/>
            <a:ext cx="2952000" cy="2736000"/>
          </a:xfrm>
          <a:prstGeom prst="rect">
            <a:avLst/>
          </a:prstGeom>
          <a:solidFill>
            <a:srgbClr val="fceeee"/>
          </a:solidFill>
          <a:ln w="12600">
            <a:solidFill>
              <a:srgbClr val="c62828"/>
            </a:solidFill>
            <a:round/>
          </a:ln>
        </p:spPr>
      </p:sp>
      <p:sp>
        <p:nvSpPr>
          <p:cNvPr id="69" name="Text23"/>
          <p:cNvSpPr txBox="1"/>
          <p:nvPr/>
        </p:nvSpPr>
        <p:spPr>
          <a:xfrm>
            <a:off x="6498000" y="1609200"/>
            <a:ext cx="27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Riscos sistêmicos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70" name="Text24"/>
          <p:cNvSpPr txBox="1"/>
          <p:nvPr/>
        </p:nvSpPr>
        <p:spPr>
          <a:xfrm>
            <a:off x="6498000" y="1890000"/>
            <a:ext cx="2700000" cy="225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propagação de NACK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interface sem resposta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dependências no núcleo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falha local interromper o sistema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71" name="Text25"/>
          <p:cNvSpPr txBox="1"/>
          <p:nvPr/>
        </p:nvSpPr>
        <p:spPr>
          <a:xfrm>
            <a:off x="2880000" y="4374000"/>
            <a:ext cx="6408000" cy="74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2300" spc="-1" strike="noStrike">
                <a:solidFill>
                  <a:srgbClr val="263238"/>
                </a:solidFill>
                <a:latin typeface="Arial"/>
              </a:rPr>
              <a:t>Falha local não deve interromper funções independentes.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72" name="Text27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 problema de pesquisa.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28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Objetivo e contribuição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74" name="Rect29"/>
          <p:cNvSpPr/>
          <p:nvPr/>
        </p:nvSpPr>
        <p:spPr>
          <a:xfrm>
            <a:off x="504000" y="1134000"/>
            <a:ext cx="9072000" cy="918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75" name="Text30"/>
          <p:cNvSpPr txBox="1"/>
          <p:nvPr/>
        </p:nvSpPr>
        <p:spPr>
          <a:xfrm>
            <a:off x="630000" y="1249200"/>
            <a:ext cx="88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Objetivo geral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76" name="Text31"/>
          <p:cNvSpPr txBox="1"/>
          <p:nvPr/>
        </p:nvSpPr>
        <p:spPr>
          <a:xfrm>
            <a:off x="630000" y="1530000"/>
            <a:ext cx="8820000" cy="5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Integrar sensores, interface e serviços compartilhados em uma plataforma vestível modular baseada no ESP32-C6.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77" name="Rect32"/>
          <p:cNvSpPr/>
          <p:nvPr/>
        </p:nvSpPr>
        <p:spPr>
          <a:xfrm>
            <a:off x="504000" y="2358000"/>
            <a:ext cx="2772000" cy="2016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78" name="Text33"/>
          <p:cNvSpPr txBox="1"/>
          <p:nvPr/>
        </p:nvSpPr>
        <p:spPr>
          <a:xfrm>
            <a:off x="630000" y="2473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Arquitetura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79" name="Text34"/>
          <p:cNvSpPr txBox="1"/>
          <p:nvPr/>
        </p:nvSpPr>
        <p:spPr>
          <a:xfrm>
            <a:off x="630000" y="2754000"/>
            <a:ext cx="252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1565c0"/>
                </a:solidFill>
                <a:latin typeface="Arial"/>
              </a:rPr>
              <a:t>MODULAR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80" name="Text35"/>
          <p:cNvSpPr txBox="1"/>
          <p:nvPr/>
        </p:nvSpPr>
        <p:spPr>
          <a:xfrm>
            <a:off x="630000" y="3085200"/>
            <a:ext cx="2520000" cy="12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Contrato init/create/show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Driver, processamento e tela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Serviços compartilhados no núcleo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81" name="Rect36"/>
          <p:cNvSpPr/>
          <p:nvPr/>
        </p:nvSpPr>
        <p:spPr>
          <a:xfrm>
            <a:off x="3654000" y="2358000"/>
            <a:ext cx="2772000" cy="2016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82" name="Text37"/>
          <p:cNvSpPr txBox="1"/>
          <p:nvPr/>
        </p:nvSpPr>
        <p:spPr>
          <a:xfrm>
            <a:off x="3780000" y="2473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Implementação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83" name="Text38"/>
          <p:cNvSpPr txBox="1"/>
          <p:nvPr/>
        </p:nvSpPr>
        <p:spPr>
          <a:xfrm>
            <a:off x="3780000" y="2754000"/>
            <a:ext cx="252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00796b"/>
                </a:solidFill>
                <a:latin typeface="Arial"/>
              </a:rPr>
              <a:t>EXECUTÁVEL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84" name="Text39"/>
          <p:cNvSpPr txBox="1"/>
          <p:nvPr/>
        </p:nvSpPr>
        <p:spPr>
          <a:xfrm>
            <a:off x="3780000" y="3085200"/>
            <a:ext cx="2520000" cy="12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Placa protótipo autoral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Invólucro impresso em 3D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Quatro páginas de navegação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85" name="Rect40"/>
          <p:cNvSpPr/>
          <p:nvPr/>
        </p:nvSpPr>
        <p:spPr>
          <a:xfrm>
            <a:off x="6804000" y="2358000"/>
            <a:ext cx="2772000" cy="2016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86" name="Text41"/>
          <p:cNvSpPr txBox="1"/>
          <p:nvPr/>
        </p:nvSpPr>
        <p:spPr>
          <a:xfrm>
            <a:off x="6930000" y="2473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Avaliação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87" name="Text42"/>
          <p:cNvSpPr txBox="1"/>
          <p:nvPr/>
        </p:nvSpPr>
        <p:spPr>
          <a:xfrm>
            <a:off x="6930000" y="2754000"/>
            <a:ext cx="252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f9a825"/>
                </a:solidFill>
                <a:latin typeface="Arial"/>
              </a:rPr>
              <a:t>RASTREÁVEL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88" name="Text43"/>
          <p:cNvSpPr txBox="1"/>
          <p:nvPr/>
        </p:nvSpPr>
        <p:spPr>
          <a:xfrm>
            <a:off x="6930000" y="3085200"/>
            <a:ext cx="2520000" cy="11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Build e análise estática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Ensaios funcionais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Limitações explicitadas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89" name="Text45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dos objetivos e contribuições do trabalho.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46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Protótipo realizado</a:t>
            </a:r>
            <a:endParaRPr b="0" lang="pt-BR" sz="3000" spc="-1" strike="noStrike">
              <a:latin typeface="Arial"/>
            </a:endParaRPr>
          </a:p>
        </p:txBody>
      </p:sp>
      <p:pic>
        <p:nvPicPr>
          <p:cNvPr id="91" name="Image47" descr=""/>
          <p:cNvPicPr/>
          <p:nvPr/>
        </p:nvPicPr>
        <p:blipFill>
          <a:blip r:embed="rId1"/>
          <a:stretch/>
        </p:blipFill>
        <p:spPr>
          <a:xfrm>
            <a:off x="663120" y="1098000"/>
            <a:ext cx="2165760" cy="3852000"/>
          </a:xfrm>
          <a:prstGeom prst="rect">
            <a:avLst/>
          </a:prstGeom>
          <a:ln w="12600">
            <a:solidFill>
              <a:srgbClr val="45982f"/>
            </a:solidFill>
            <a:round/>
          </a:ln>
        </p:spPr>
      </p:pic>
      <p:pic>
        <p:nvPicPr>
          <p:cNvPr id="92" name="Image48" descr=""/>
          <p:cNvPicPr/>
          <p:nvPr/>
        </p:nvPicPr>
        <p:blipFill>
          <a:blip r:embed="rId2"/>
          <a:stretch/>
        </p:blipFill>
        <p:spPr>
          <a:xfrm>
            <a:off x="3645360" y="1134000"/>
            <a:ext cx="1996920" cy="2772000"/>
          </a:xfrm>
          <a:prstGeom prst="rect">
            <a:avLst/>
          </a:prstGeom>
          <a:ln w="12600">
            <a:solidFill>
              <a:srgbClr val="45982f"/>
            </a:solidFill>
            <a:round/>
          </a:ln>
        </p:spPr>
      </p:pic>
      <p:pic>
        <p:nvPicPr>
          <p:cNvPr id="93" name="Image49" descr=""/>
          <p:cNvPicPr/>
          <p:nvPr/>
        </p:nvPicPr>
        <p:blipFill>
          <a:blip r:embed="rId3"/>
          <a:stretch/>
        </p:blipFill>
        <p:spPr>
          <a:xfrm>
            <a:off x="6633360" y="1134000"/>
            <a:ext cx="1996920" cy="2772000"/>
          </a:xfrm>
          <a:prstGeom prst="rect">
            <a:avLst/>
          </a:prstGeom>
          <a:ln w="12600">
            <a:solidFill>
              <a:srgbClr val="45982f"/>
            </a:solidFill>
            <a:round/>
          </a:ln>
        </p:spPr>
      </p:pic>
      <p:sp>
        <p:nvSpPr>
          <p:cNvPr id="94" name="Text50"/>
          <p:cNvSpPr txBox="1"/>
          <p:nvPr/>
        </p:nvSpPr>
        <p:spPr>
          <a:xfrm>
            <a:off x="3240000" y="3978000"/>
            <a:ext cx="5796000" cy="9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2000" spc="-1" strike="noStrike">
                <a:solidFill>
                  <a:srgbClr val="263238"/>
                </a:solidFill>
                <a:latin typeface="Arial"/>
              </a:rPr>
              <a:t>Placa protótipo autoral + invólucro impresso em 3D</a:t>
            </a:r>
            <a:endParaRPr b="0" lang="pt-BR" sz="2000" spc="-1" strike="noStrike">
              <a:latin typeface="Arial"/>
            </a:endParaRPr>
          </a:p>
          <a:p>
            <a:pPr algn="ctr">
              <a:buNone/>
            </a:pPr>
            <a:r>
              <a:rPr b="0" lang="pt-BR" sz="1900" spc="-1" strike="noStrike">
                <a:solidFill>
                  <a:srgbClr val="263238"/>
                </a:solidFill>
                <a:latin typeface="Arial"/>
              </a:rPr>
              <a:t>Elementos realizados na versão final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95" name="Text52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acervo e projeto do autor (2026).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53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Método incremental</a:t>
            </a:r>
            <a:endParaRPr b="0" lang="pt-BR" sz="3000" spc="-1" strike="noStrike">
              <a:latin typeface="Arial"/>
            </a:endParaRPr>
          </a:p>
        </p:txBody>
      </p:sp>
      <p:pic>
        <p:nvPicPr>
          <p:cNvPr id="97" name="Image54" descr=""/>
          <p:cNvPicPr/>
          <p:nvPr/>
        </p:nvPicPr>
        <p:blipFill>
          <a:blip r:embed="rId1"/>
          <a:stretch/>
        </p:blipFill>
        <p:spPr>
          <a:xfrm>
            <a:off x="2186280" y="1080000"/>
            <a:ext cx="5707080" cy="3924000"/>
          </a:xfrm>
          <a:prstGeom prst="rect">
            <a:avLst/>
          </a:prstGeom>
          <a:ln w="0">
            <a:noFill/>
          </a:ln>
        </p:spPr>
      </p:pic>
      <p:sp>
        <p:nvSpPr>
          <p:cNvPr id="98" name="Text56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 método empregado no projeto.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57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Método: evidência de teste isolado</a:t>
            </a:r>
            <a:endParaRPr b="0" lang="pt-BR" sz="3000" spc="-1" strike="noStrike">
              <a:latin typeface="Arial"/>
            </a:endParaRPr>
          </a:p>
        </p:txBody>
      </p:sp>
      <p:pic>
        <p:nvPicPr>
          <p:cNvPr id="100" name="Image58" descr=""/>
          <p:cNvPicPr/>
          <p:nvPr/>
        </p:nvPicPr>
        <p:blipFill>
          <a:blip r:embed="rId1"/>
          <a:stretch/>
        </p:blipFill>
        <p:spPr>
          <a:xfrm>
            <a:off x="468000" y="1128240"/>
            <a:ext cx="9144000" cy="1649520"/>
          </a:xfrm>
          <a:prstGeom prst="rect">
            <a:avLst/>
          </a:prstGeom>
          <a:ln w="0">
            <a:noFill/>
          </a:ln>
        </p:spPr>
      </p:pic>
      <p:sp>
        <p:nvSpPr>
          <p:cNvPr id="101" name="Rect59"/>
          <p:cNvSpPr/>
          <p:nvPr/>
        </p:nvSpPr>
        <p:spPr>
          <a:xfrm>
            <a:off x="504000" y="3078000"/>
            <a:ext cx="2772000" cy="1278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102" name="Text60"/>
          <p:cNvSpPr txBox="1"/>
          <p:nvPr/>
        </p:nvSpPr>
        <p:spPr>
          <a:xfrm>
            <a:off x="630000" y="3193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Compreender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3" name="Text61"/>
          <p:cNvSpPr txBox="1"/>
          <p:nvPr/>
        </p:nvSpPr>
        <p:spPr>
          <a:xfrm>
            <a:off x="630000" y="3474000"/>
            <a:ext cx="252000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interface · configuração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restrições de operação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04" name="Rect62"/>
          <p:cNvSpPr/>
          <p:nvPr/>
        </p:nvSpPr>
        <p:spPr>
          <a:xfrm>
            <a:off x="3654000" y="3078000"/>
            <a:ext cx="2772000" cy="1278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105" name="Text63"/>
          <p:cNvSpPr txBox="1"/>
          <p:nvPr/>
        </p:nvSpPr>
        <p:spPr>
          <a:xfrm>
            <a:off x="3780000" y="3193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Controlar variáveis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6" name="Text64"/>
          <p:cNvSpPr txBox="1"/>
          <p:nvPr/>
        </p:nvSpPr>
        <p:spPr>
          <a:xfrm>
            <a:off x="3780000" y="3474000"/>
            <a:ext cx="252000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firmware standalone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logs e dados brutos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07" name="Rect65"/>
          <p:cNvSpPr/>
          <p:nvPr/>
        </p:nvSpPr>
        <p:spPr>
          <a:xfrm>
            <a:off x="6804000" y="3078000"/>
            <a:ext cx="2772000" cy="1278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108" name="Text66"/>
          <p:cNvSpPr txBox="1"/>
          <p:nvPr/>
        </p:nvSpPr>
        <p:spPr>
          <a:xfrm>
            <a:off x="6930000" y="3193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Critério de avanço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9" name="Text67"/>
          <p:cNvSpPr txBox="1"/>
          <p:nvPr/>
        </p:nvSpPr>
        <p:spPr>
          <a:xfrm>
            <a:off x="6930000" y="3474000"/>
            <a:ext cx="252000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aquisição e tratamento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verificados isoladamente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10" name="Text69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 método empregado no projeto.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70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Método: integração, regressão e retorno</a:t>
            </a:r>
            <a:endParaRPr b="0" lang="pt-BR" sz="3000" spc="-1" strike="noStrike">
              <a:latin typeface="Arial"/>
            </a:endParaRPr>
          </a:p>
        </p:txBody>
      </p:sp>
      <p:pic>
        <p:nvPicPr>
          <p:cNvPr id="112" name="Image71" descr=""/>
          <p:cNvPicPr/>
          <p:nvPr/>
        </p:nvPicPr>
        <p:blipFill>
          <a:blip r:embed="rId1"/>
          <a:stretch/>
        </p:blipFill>
        <p:spPr>
          <a:xfrm>
            <a:off x="468000" y="1114200"/>
            <a:ext cx="9144000" cy="3585960"/>
          </a:xfrm>
          <a:prstGeom prst="rect">
            <a:avLst/>
          </a:prstGeom>
          <a:ln w="0">
            <a:noFill/>
          </a:ln>
        </p:spPr>
      </p:pic>
      <p:sp>
        <p:nvSpPr>
          <p:cNvPr id="113" name="Text73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 método empregado no projeto.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74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Arquitetura implementada</a:t>
            </a:r>
            <a:endParaRPr b="0" lang="pt-BR" sz="3000" spc="-1" strike="noStrike">
              <a:latin typeface="Arial"/>
            </a:endParaRPr>
          </a:p>
        </p:txBody>
      </p:sp>
      <p:pic>
        <p:nvPicPr>
          <p:cNvPr id="115" name="Image75" descr=""/>
          <p:cNvPicPr/>
          <p:nvPr/>
        </p:nvPicPr>
        <p:blipFill>
          <a:blip r:embed="rId1"/>
          <a:stretch/>
        </p:blipFill>
        <p:spPr>
          <a:xfrm>
            <a:off x="1799640" y="1044000"/>
            <a:ext cx="6480720" cy="4050000"/>
          </a:xfrm>
          <a:prstGeom prst="rect">
            <a:avLst/>
          </a:prstGeom>
          <a:ln w="0">
            <a:noFill/>
          </a:ln>
        </p:spPr>
      </p:pic>
      <p:sp>
        <p:nvSpPr>
          <p:cNvPr id="116" name="Text77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 firmware integrado.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78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Concorrência e barramento compartilhado</a:t>
            </a:r>
            <a:endParaRPr b="0" lang="pt-BR" sz="3000" spc="-1" strike="noStrike">
              <a:latin typeface="Arial"/>
            </a:endParaRPr>
          </a:p>
        </p:txBody>
      </p:sp>
      <p:pic>
        <p:nvPicPr>
          <p:cNvPr id="118" name="Image79" descr=""/>
          <p:cNvPicPr/>
          <p:nvPr/>
        </p:nvPicPr>
        <p:blipFill>
          <a:blip r:embed="rId1"/>
          <a:stretch/>
        </p:blipFill>
        <p:spPr>
          <a:xfrm>
            <a:off x="432000" y="1446120"/>
            <a:ext cx="5544000" cy="2723760"/>
          </a:xfrm>
          <a:prstGeom prst="rect">
            <a:avLst/>
          </a:prstGeom>
          <a:ln w="0">
            <a:noFill/>
          </a:ln>
        </p:spPr>
      </p:pic>
      <p:sp>
        <p:nvSpPr>
          <p:cNvPr id="119" name="Rect80"/>
          <p:cNvSpPr/>
          <p:nvPr/>
        </p:nvSpPr>
        <p:spPr>
          <a:xfrm>
            <a:off x="6192000" y="1170000"/>
            <a:ext cx="3168000" cy="774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120" name="Text81"/>
          <p:cNvSpPr txBox="1"/>
          <p:nvPr/>
        </p:nvSpPr>
        <p:spPr>
          <a:xfrm>
            <a:off x="6318000" y="1285200"/>
            <a:ext cx="291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1. Exclusão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1" name="Text82"/>
          <p:cNvSpPr txBox="1"/>
          <p:nvPr/>
        </p:nvSpPr>
        <p:spPr>
          <a:xfrm>
            <a:off x="6318000" y="1566000"/>
            <a:ext cx="291600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task → mutex I²C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22" name="Text83"/>
          <p:cNvSpPr txBox="1"/>
          <p:nvPr/>
        </p:nvSpPr>
        <p:spPr>
          <a:xfrm>
            <a:off x="7524000" y="1908000"/>
            <a:ext cx="432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3000" spc="-1" strike="noStrike">
                <a:solidFill>
                  <a:srgbClr val="f9a825"/>
                </a:solidFill>
                <a:latin typeface="Arial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123" name="Rect84"/>
          <p:cNvSpPr/>
          <p:nvPr/>
        </p:nvSpPr>
        <p:spPr>
          <a:xfrm>
            <a:off x="6192000" y="2178000"/>
            <a:ext cx="3168000" cy="774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124" name="Text85"/>
          <p:cNvSpPr txBox="1"/>
          <p:nvPr/>
        </p:nvSpPr>
        <p:spPr>
          <a:xfrm>
            <a:off x="6318000" y="2293200"/>
            <a:ext cx="291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2. Transação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5" name="Text86"/>
          <p:cNvSpPr txBox="1"/>
          <p:nvPr/>
        </p:nvSpPr>
        <p:spPr>
          <a:xfrm>
            <a:off x="6318000" y="2574000"/>
            <a:ext cx="291600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sucesso ou NACK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26" name="Text87"/>
          <p:cNvSpPr txBox="1"/>
          <p:nvPr/>
        </p:nvSpPr>
        <p:spPr>
          <a:xfrm>
            <a:off x="7524000" y="2916000"/>
            <a:ext cx="432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3000" spc="-1" strike="noStrike">
                <a:solidFill>
                  <a:srgbClr val="f9a825"/>
                </a:solidFill>
                <a:latin typeface="Arial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127" name="Rect88"/>
          <p:cNvSpPr/>
          <p:nvPr/>
        </p:nvSpPr>
        <p:spPr>
          <a:xfrm>
            <a:off x="6192000" y="3186000"/>
            <a:ext cx="3168000" cy="774000"/>
          </a:xfrm>
          <a:prstGeom prst="rect">
            <a:avLst/>
          </a:prstGeom>
          <a:solidFill>
            <a:srgbClr val="fceeee"/>
          </a:solidFill>
          <a:ln w="12600">
            <a:solidFill>
              <a:srgbClr val="c62828"/>
            </a:solidFill>
            <a:round/>
          </a:ln>
        </p:spPr>
      </p:sp>
      <p:sp>
        <p:nvSpPr>
          <p:cNvPr id="128" name="Text89"/>
          <p:cNvSpPr txBox="1"/>
          <p:nvPr/>
        </p:nvSpPr>
        <p:spPr>
          <a:xfrm>
            <a:off x="6318000" y="3301200"/>
            <a:ext cx="291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3. Recuperação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9" name="Text90"/>
          <p:cNvSpPr txBox="1"/>
          <p:nvPr/>
        </p:nvSpPr>
        <p:spPr>
          <a:xfrm>
            <a:off x="6318000" y="3582000"/>
            <a:ext cx="291600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i2c_master_bus_reset()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30" name="Text91"/>
          <p:cNvSpPr txBox="1"/>
          <p:nvPr/>
        </p:nvSpPr>
        <p:spPr>
          <a:xfrm>
            <a:off x="7524000" y="3924000"/>
            <a:ext cx="432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3000" spc="-1" strike="noStrike">
                <a:solidFill>
                  <a:srgbClr val="f9a825"/>
                </a:solidFill>
                <a:latin typeface="Arial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131" name="Rect92"/>
          <p:cNvSpPr/>
          <p:nvPr/>
        </p:nvSpPr>
        <p:spPr>
          <a:xfrm>
            <a:off x="6192000" y="4194000"/>
            <a:ext cx="3168000" cy="648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132" name="Text93"/>
          <p:cNvSpPr txBox="1"/>
          <p:nvPr/>
        </p:nvSpPr>
        <p:spPr>
          <a:xfrm>
            <a:off x="6318000" y="4309200"/>
            <a:ext cx="291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4. Liberação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3" name="Text94"/>
          <p:cNvSpPr txBox="1"/>
          <p:nvPr/>
        </p:nvSpPr>
        <p:spPr>
          <a:xfrm>
            <a:off x="6318000" y="4590000"/>
            <a:ext cx="291600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próxima transação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34" name="Text96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de main.c, tarefas dos módulos e i2c_recover.c.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97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Extensibilidade e contenção de falhas</a:t>
            </a:r>
            <a:endParaRPr b="0" lang="pt-BR" sz="3000" spc="-1" strike="noStrike">
              <a:latin typeface="Arial"/>
            </a:endParaRPr>
          </a:p>
        </p:txBody>
      </p:sp>
      <p:pic>
        <p:nvPicPr>
          <p:cNvPr id="136" name="Image98" descr=""/>
          <p:cNvPicPr/>
          <p:nvPr/>
        </p:nvPicPr>
        <p:blipFill>
          <a:blip r:embed="rId1"/>
          <a:stretch/>
        </p:blipFill>
        <p:spPr>
          <a:xfrm>
            <a:off x="645840" y="1098000"/>
            <a:ext cx="5548320" cy="3816000"/>
          </a:xfrm>
          <a:prstGeom prst="rect">
            <a:avLst/>
          </a:prstGeom>
          <a:ln w="0">
            <a:noFill/>
          </a:ln>
        </p:spPr>
      </p:pic>
      <p:sp>
        <p:nvSpPr>
          <p:cNvPr id="137" name="Rect99"/>
          <p:cNvSpPr/>
          <p:nvPr/>
        </p:nvSpPr>
        <p:spPr>
          <a:xfrm>
            <a:off x="6606000" y="1170000"/>
            <a:ext cx="2808000" cy="954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138" name="Text100"/>
          <p:cNvSpPr txBox="1"/>
          <p:nvPr/>
        </p:nvSpPr>
        <p:spPr>
          <a:xfrm>
            <a:off x="6732000" y="1285200"/>
            <a:ext cx="255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Reutilização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9" name="Text101"/>
          <p:cNvSpPr txBox="1"/>
          <p:nvPr/>
        </p:nvSpPr>
        <p:spPr>
          <a:xfrm>
            <a:off x="6732000" y="1566000"/>
            <a:ext cx="2556000" cy="37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000" spc="-1" strike="noStrike">
                <a:solidFill>
                  <a:srgbClr val="1565c0"/>
                </a:solidFill>
                <a:latin typeface="Arial"/>
              </a:rPr>
              <a:t>678 linhas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40" name="Text102"/>
          <p:cNvSpPr txBox="1"/>
          <p:nvPr/>
        </p:nvSpPr>
        <p:spPr>
          <a:xfrm>
            <a:off x="6732000" y="1825200"/>
            <a:ext cx="255600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6 arquivos preservados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41" name="Rect103"/>
          <p:cNvSpPr/>
          <p:nvPr/>
        </p:nvSpPr>
        <p:spPr>
          <a:xfrm>
            <a:off x="6606000" y="2268000"/>
            <a:ext cx="2808000" cy="954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142" name="Text104"/>
          <p:cNvSpPr txBox="1"/>
          <p:nvPr/>
        </p:nvSpPr>
        <p:spPr>
          <a:xfrm>
            <a:off x="6732000" y="2383200"/>
            <a:ext cx="255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Composição explícita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43" name="Text105"/>
          <p:cNvSpPr txBox="1"/>
          <p:nvPr/>
        </p:nvSpPr>
        <p:spPr>
          <a:xfrm>
            <a:off x="6732000" y="2664000"/>
            <a:ext cx="2556000" cy="37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000" spc="-1" strike="noStrike">
                <a:solidFill>
                  <a:srgbClr val="00796b"/>
                </a:solidFill>
                <a:latin typeface="Arial"/>
              </a:rPr>
              <a:t>6 pontos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44" name="Text106"/>
          <p:cNvSpPr txBox="1"/>
          <p:nvPr/>
        </p:nvSpPr>
        <p:spPr>
          <a:xfrm>
            <a:off x="6732000" y="2923200"/>
            <a:ext cx="255600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fora da pasta do módulo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45" name="Rect107"/>
          <p:cNvSpPr/>
          <p:nvPr/>
        </p:nvSpPr>
        <p:spPr>
          <a:xfrm>
            <a:off x="6606000" y="3366000"/>
            <a:ext cx="2808000" cy="1278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146" name="Text108"/>
          <p:cNvSpPr txBox="1"/>
          <p:nvPr/>
        </p:nvSpPr>
        <p:spPr>
          <a:xfrm>
            <a:off x="6732000" y="3481200"/>
            <a:ext cx="255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Sensores ausentes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47" name="Text109"/>
          <p:cNvSpPr txBox="1"/>
          <p:nvPr/>
        </p:nvSpPr>
        <p:spPr>
          <a:xfrm>
            <a:off x="6732000" y="3762000"/>
            <a:ext cx="2556000" cy="37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000" spc="-1" strike="noStrike">
                <a:solidFill>
                  <a:srgbClr val="f9a825"/>
                </a:solidFill>
                <a:latin typeface="Arial"/>
              </a:rPr>
              <a:t>sem falha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48" name="Text110"/>
          <p:cNvSpPr txBox="1"/>
          <p:nvPr/>
        </p:nvSpPr>
        <p:spPr>
          <a:xfrm>
            <a:off x="6732000" y="4021200"/>
            <a:ext cx="2556000" cy="57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remoção em arranjos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funções mantidas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49" name="Text112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firmware integrado e ensaios de sensores ausentes.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113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Extensibilidade: preparar e compor</a:t>
            </a:r>
            <a:endParaRPr b="0" lang="pt-BR" sz="3000" spc="-1" strike="noStrike">
              <a:latin typeface="Arial"/>
            </a:endParaRPr>
          </a:p>
        </p:txBody>
      </p:sp>
      <p:pic>
        <p:nvPicPr>
          <p:cNvPr id="151" name="Image114" descr=""/>
          <p:cNvPicPr/>
          <p:nvPr/>
        </p:nvPicPr>
        <p:blipFill>
          <a:blip r:embed="rId1"/>
          <a:stretch/>
        </p:blipFill>
        <p:spPr>
          <a:xfrm>
            <a:off x="469800" y="1080000"/>
            <a:ext cx="9140400" cy="3906000"/>
          </a:xfrm>
          <a:prstGeom prst="rect">
            <a:avLst/>
          </a:prstGeom>
          <a:ln w="0">
            <a:noFill/>
          </a:ln>
        </p:spPr>
      </p:pic>
      <p:sp>
        <p:nvSpPr>
          <p:cNvPr id="152" name="Text116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 firmware integrado.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117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Contenção de falhas e regressão</a:t>
            </a:r>
            <a:endParaRPr b="0" lang="pt-BR" sz="3000" spc="-1" strike="noStrike">
              <a:latin typeface="Arial"/>
            </a:endParaRPr>
          </a:p>
        </p:txBody>
      </p:sp>
      <p:pic>
        <p:nvPicPr>
          <p:cNvPr id="154" name="Image118" descr=""/>
          <p:cNvPicPr/>
          <p:nvPr/>
        </p:nvPicPr>
        <p:blipFill>
          <a:blip r:embed="rId1"/>
          <a:stretch/>
        </p:blipFill>
        <p:spPr>
          <a:xfrm>
            <a:off x="468000" y="1121400"/>
            <a:ext cx="9144000" cy="1807560"/>
          </a:xfrm>
          <a:prstGeom prst="rect">
            <a:avLst/>
          </a:prstGeom>
          <a:ln w="0">
            <a:noFill/>
          </a:ln>
        </p:spPr>
      </p:pic>
      <p:sp>
        <p:nvSpPr>
          <p:cNvPr id="155" name="Rect119"/>
          <p:cNvSpPr/>
          <p:nvPr/>
        </p:nvSpPr>
        <p:spPr>
          <a:xfrm>
            <a:off x="504000" y="3168000"/>
            <a:ext cx="2772000" cy="1350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156" name="Text120"/>
          <p:cNvSpPr txBox="1"/>
          <p:nvPr/>
        </p:nvSpPr>
        <p:spPr>
          <a:xfrm>
            <a:off x="630000" y="3283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Sensor ausente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57" name="Text121"/>
          <p:cNvSpPr txBox="1"/>
          <p:nvPr/>
        </p:nvSpPr>
        <p:spPr>
          <a:xfrm>
            <a:off x="630000" y="3564000"/>
            <a:ext cx="2520000" cy="8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remoção individual e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em diferentes arranjos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58" name="Rect122"/>
          <p:cNvSpPr/>
          <p:nvPr/>
        </p:nvSpPr>
        <p:spPr>
          <a:xfrm>
            <a:off x="3654000" y="3168000"/>
            <a:ext cx="2772000" cy="1350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159" name="Text123"/>
          <p:cNvSpPr txBox="1"/>
          <p:nvPr/>
        </p:nvSpPr>
        <p:spPr>
          <a:xfrm>
            <a:off x="3780000" y="3283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Operação observada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60" name="Text124"/>
          <p:cNvSpPr txBox="1"/>
          <p:nvPr/>
        </p:nvSpPr>
        <p:spPr>
          <a:xfrm>
            <a:off x="3780000" y="3564000"/>
            <a:ext cx="2520000" cy="8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sem panic, watchdog ou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reinicialização espontânea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61" name="Rect125"/>
          <p:cNvSpPr/>
          <p:nvPr/>
        </p:nvSpPr>
        <p:spPr>
          <a:xfrm>
            <a:off x="6804000" y="3168000"/>
            <a:ext cx="2772000" cy="1350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162" name="Text126"/>
          <p:cNvSpPr txBox="1"/>
          <p:nvPr/>
        </p:nvSpPr>
        <p:spPr>
          <a:xfrm>
            <a:off x="6930000" y="3283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Regressão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63" name="Text127"/>
          <p:cNvSpPr txBox="1"/>
          <p:nvPr/>
        </p:nvSpPr>
        <p:spPr>
          <a:xfrm>
            <a:off x="6930000" y="3564000"/>
            <a:ext cx="2520000" cy="8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funções independentes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permaneceram operantes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64" name="Text129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firmware integrado e ensaios de sensores ausentes.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130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Demonstração ao vivo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166" name="Rect131"/>
          <p:cNvSpPr/>
          <p:nvPr/>
        </p:nvSpPr>
        <p:spPr>
          <a:xfrm>
            <a:off x="504000" y="1152000"/>
            <a:ext cx="2736000" cy="3384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167" name="Text132"/>
          <p:cNvSpPr txBox="1"/>
          <p:nvPr/>
        </p:nvSpPr>
        <p:spPr>
          <a:xfrm>
            <a:off x="630000" y="1267200"/>
            <a:ext cx="24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1. Interface e menus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168" name="Image133" descr=""/>
          <p:cNvPicPr/>
          <p:nvPr/>
        </p:nvPicPr>
        <p:blipFill>
          <a:blip r:embed="rId1"/>
          <a:stretch/>
        </p:blipFill>
        <p:spPr>
          <a:xfrm>
            <a:off x="702000" y="1638000"/>
            <a:ext cx="2340000" cy="2340000"/>
          </a:xfrm>
          <a:prstGeom prst="rect">
            <a:avLst/>
          </a:prstGeom>
          <a:ln w="0">
            <a:noFill/>
          </a:ln>
        </p:spPr>
      </p:pic>
      <p:sp>
        <p:nvSpPr>
          <p:cNvPr id="169" name="Text134"/>
          <p:cNvSpPr txBox="1"/>
          <p:nvPr/>
        </p:nvSpPr>
        <p:spPr>
          <a:xfrm>
            <a:off x="3222000" y="2520000"/>
            <a:ext cx="36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3000" spc="-1" strike="noStrike">
                <a:solidFill>
                  <a:srgbClr val="f9a825"/>
                </a:solidFill>
                <a:latin typeface="Arial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170" name="Rect135"/>
          <p:cNvSpPr/>
          <p:nvPr/>
        </p:nvSpPr>
        <p:spPr>
          <a:xfrm>
            <a:off x="3582000" y="1152000"/>
            <a:ext cx="2736000" cy="3384000"/>
          </a:xfrm>
          <a:prstGeom prst="rect">
            <a:avLst/>
          </a:prstGeom>
          <a:solidFill>
            <a:srgbClr val="fceeee"/>
          </a:solidFill>
          <a:ln w="12600">
            <a:solidFill>
              <a:srgbClr val="c62828"/>
            </a:solidFill>
            <a:round/>
          </a:ln>
        </p:spPr>
      </p:sp>
      <p:sp>
        <p:nvSpPr>
          <p:cNvPr id="171" name="Text136"/>
          <p:cNvSpPr txBox="1"/>
          <p:nvPr/>
        </p:nvSpPr>
        <p:spPr>
          <a:xfrm>
            <a:off x="3708000" y="1267200"/>
            <a:ext cx="24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2. Iniciar PPG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172" name="Image137" descr=""/>
          <p:cNvPicPr/>
          <p:nvPr/>
        </p:nvPicPr>
        <p:blipFill>
          <a:blip r:embed="rId2"/>
          <a:stretch/>
        </p:blipFill>
        <p:spPr>
          <a:xfrm>
            <a:off x="3780000" y="1638000"/>
            <a:ext cx="2340000" cy="2340000"/>
          </a:xfrm>
          <a:prstGeom prst="rect">
            <a:avLst/>
          </a:prstGeom>
          <a:ln w="0">
            <a:noFill/>
          </a:ln>
        </p:spPr>
      </p:pic>
      <p:sp>
        <p:nvSpPr>
          <p:cNvPr id="173" name="Text138"/>
          <p:cNvSpPr txBox="1"/>
          <p:nvPr/>
        </p:nvSpPr>
        <p:spPr>
          <a:xfrm>
            <a:off x="6300000" y="2520000"/>
            <a:ext cx="36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3000" spc="-1" strike="noStrike">
                <a:solidFill>
                  <a:srgbClr val="f9a825"/>
                </a:solidFill>
                <a:latin typeface="Arial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174" name="Rect139"/>
          <p:cNvSpPr/>
          <p:nvPr/>
        </p:nvSpPr>
        <p:spPr>
          <a:xfrm>
            <a:off x="6660000" y="1152000"/>
            <a:ext cx="2736000" cy="3384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175" name="Text140"/>
          <p:cNvSpPr txBox="1"/>
          <p:nvPr/>
        </p:nvSpPr>
        <p:spPr>
          <a:xfrm>
            <a:off x="6786000" y="1267200"/>
            <a:ext cx="248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3. Girar a bússola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176" name="Image141" descr=""/>
          <p:cNvPicPr/>
          <p:nvPr/>
        </p:nvPicPr>
        <p:blipFill>
          <a:blip r:embed="rId3"/>
          <a:stretch/>
        </p:blipFill>
        <p:spPr>
          <a:xfrm>
            <a:off x="6858000" y="1638000"/>
            <a:ext cx="2340000" cy="2340000"/>
          </a:xfrm>
          <a:prstGeom prst="rect">
            <a:avLst/>
          </a:prstGeom>
          <a:ln w="0">
            <a:noFill/>
          </a:ln>
        </p:spPr>
      </p:pic>
      <p:sp>
        <p:nvSpPr>
          <p:cNvPr id="177" name="Text142"/>
          <p:cNvSpPr txBox="1"/>
          <p:nvPr/>
        </p:nvSpPr>
        <p:spPr>
          <a:xfrm>
            <a:off x="1800000" y="4590000"/>
            <a:ext cx="6480000" cy="74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2300" spc="-1" strike="noStrike">
                <a:solidFill>
                  <a:srgbClr val="263238"/>
                </a:solidFill>
                <a:latin typeface="Arial"/>
              </a:rPr>
              <a:t>Rota-alvo: 1 min 50 s · contingência estática incorporada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78" name="Text144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 das capturas: firmware executável e acervo do autor (2026).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145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Como a solução foi avaliada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180" name="Rect146"/>
          <p:cNvSpPr/>
          <p:nvPr/>
        </p:nvSpPr>
        <p:spPr>
          <a:xfrm>
            <a:off x="504000" y="1170000"/>
            <a:ext cx="2772000" cy="3168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181" name="Text147"/>
          <p:cNvSpPr txBox="1"/>
          <p:nvPr/>
        </p:nvSpPr>
        <p:spPr>
          <a:xfrm>
            <a:off x="630000" y="1285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Análise estática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82" name="Text148"/>
          <p:cNvSpPr txBox="1"/>
          <p:nvPr/>
        </p:nvSpPr>
        <p:spPr>
          <a:xfrm>
            <a:off x="630000" y="1566000"/>
            <a:ext cx="252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1565c0"/>
                </a:solidFill>
                <a:latin typeface="Arial"/>
              </a:rPr>
              <a:t>678 linhas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183" name="Text149"/>
          <p:cNvSpPr txBox="1"/>
          <p:nvPr/>
        </p:nvSpPr>
        <p:spPr>
          <a:xfrm>
            <a:off x="630000" y="1897200"/>
            <a:ext cx="2520000" cy="235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Contrato e dependências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Reutilização do MAX30102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Pontos externos ao módulo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84" name="Rect150"/>
          <p:cNvSpPr/>
          <p:nvPr/>
        </p:nvSpPr>
        <p:spPr>
          <a:xfrm>
            <a:off x="3654000" y="1170000"/>
            <a:ext cx="2772000" cy="3168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185" name="Text151"/>
          <p:cNvSpPr txBox="1"/>
          <p:nvPr/>
        </p:nvSpPr>
        <p:spPr>
          <a:xfrm>
            <a:off x="3780000" y="1285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Build final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86" name="Text152"/>
          <p:cNvSpPr txBox="1"/>
          <p:nvPr/>
        </p:nvSpPr>
        <p:spPr>
          <a:xfrm>
            <a:off x="3780000" y="1566000"/>
            <a:ext cx="252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00796b"/>
                </a:solidFill>
                <a:latin typeface="Arial"/>
              </a:rPr>
              <a:t>74,79%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187" name="Text153"/>
          <p:cNvSpPr txBox="1"/>
          <p:nvPr/>
        </p:nvSpPr>
        <p:spPr>
          <a:xfrm>
            <a:off x="3780000" y="1897200"/>
            <a:ext cx="2520000" cy="235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Partição de aplicação: 1 MiB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Folga: 264.336 bytes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Pool LVGL: 96 KiB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88" name="Rect154"/>
          <p:cNvSpPr/>
          <p:nvPr/>
        </p:nvSpPr>
        <p:spPr>
          <a:xfrm>
            <a:off x="6804000" y="1170000"/>
            <a:ext cx="2772000" cy="3168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189" name="Text155"/>
          <p:cNvSpPr txBox="1"/>
          <p:nvPr/>
        </p:nvSpPr>
        <p:spPr>
          <a:xfrm>
            <a:off x="6930000" y="1285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Ensaios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90" name="Text156"/>
          <p:cNvSpPr txBox="1"/>
          <p:nvPr/>
        </p:nvSpPr>
        <p:spPr>
          <a:xfrm>
            <a:off x="6930000" y="1566000"/>
            <a:ext cx="252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f9a825"/>
                </a:solidFill>
                <a:latin typeface="Arial"/>
              </a:rPr>
              <a:t>sem falha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191" name="Text157"/>
          <p:cNvSpPr txBox="1"/>
          <p:nvPr/>
        </p:nvSpPr>
        <p:spPr>
          <a:xfrm>
            <a:off x="6930000" y="1897200"/>
            <a:ext cx="2520000" cy="235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Sensores e interface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RTC e corrente total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Ausências sem impedir funções independentes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92" name="Text158"/>
          <p:cNvSpPr txBox="1"/>
          <p:nvPr/>
        </p:nvSpPr>
        <p:spPr>
          <a:xfrm>
            <a:off x="1152000" y="4518000"/>
            <a:ext cx="7776000" cy="4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2300" spc="-1" strike="noStrike">
                <a:solidFill>
                  <a:srgbClr val="263238"/>
                </a:solidFill>
                <a:latin typeface="Arial"/>
              </a:rPr>
              <a:t>Implementado ≠ ensaiado ≠ proposto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193" name="Text160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 build, análise do firmware e caderno de ensaios.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161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PPG: linha de base e espectro</a:t>
            </a:r>
            <a:endParaRPr b="0" lang="pt-BR" sz="3000" spc="-1" strike="noStrike">
              <a:latin typeface="Arial"/>
            </a:endParaRPr>
          </a:p>
        </p:txBody>
      </p:sp>
      <p:pic>
        <p:nvPicPr>
          <p:cNvPr id="195" name="Image162" descr=""/>
          <p:cNvPicPr/>
          <p:nvPr/>
        </p:nvPicPr>
        <p:blipFill>
          <a:blip r:embed="rId1"/>
          <a:stretch/>
        </p:blipFill>
        <p:spPr>
          <a:xfrm>
            <a:off x="551880" y="1080000"/>
            <a:ext cx="6239880" cy="3744000"/>
          </a:xfrm>
          <a:prstGeom prst="rect">
            <a:avLst/>
          </a:prstGeom>
          <a:ln w="0">
            <a:noFill/>
          </a:ln>
        </p:spPr>
      </p:pic>
      <p:sp>
        <p:nvSpPr>
          <p:cNvPr id="196" name="Rect163"/>
          <p:cNvSpPr/>
          <p:nvPr/>
        </p:nvSpPr>
        <p:spPr>
          <a:xfrm>
            <a:off x="7074000" y="1278000"/>
            <a:ext cx="2484000" cy="2646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197" name="Text164"/>
          <p:cNvSpPr txBox="1"/>
          <p:nvPr/>
        </p:nvSpPr>
        <p:spPr>
          <a:xfrm>
            <a:off x="7200000" y="1393200"/>
            <a:ext cx="223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Síntese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98" name="Text165"/>
          <p:cNvSpPr txBox="1"/>
          <p:nvPr/>
        </p:nvSpPr>
        <p:spPr>
          <a:xfrm>
            <a:off x="7200000" y="1674000"/>
            <a:ext cx="2232000" cy="21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400" spc="-1" strike="noStrike">
                <a:solidFill>
                  <a:srgbClr val="263238"/>
                </a:solidFill>
                <a:latin typeface="Arial"/>
              </a:rPr>
              <a:t>DC acompanha a linha de base</a:t>
            </a:r>
            <a:endParaRPr b="0" lang="pt-BR" sz="1400" spc="-1" strike="noStrike">
              <a:latin typeface="Arial"/>
            </a:endParaRPr>
          </a:p>
          <a:p>
            <a:r>
              <a:rPr b="0" lang="pt-BR" sz="1400" spc="-1" strike="noStrike">
                <a:solidFill>
                  <a:srgbClr val="263238"/>
                </a:solidFill>
                <a:latin typeface="Arial"/>
              </a:rPr>
              <a:t>IR acima de 5 Hz: 2,2%</a:t>
            </a:r>
            <a:endParaRPr b="0" lang="pt-BR" sz="1400" spc="-1" strike="noStrike">
              <a:latin typeface="Arial"/>
            </a:endParaRPr>
          </a:p>
          <a:p>
            <a:r>
              <a:rPr b="0" lang="pt-BR" sz="1400" spc="-1" strike="noStrike">
                <a:solidFill>
                  <a:srgbClr val="263238"/>
                </a:solidFill>
                <a:latin typeface="Arial"/>
              </a:rPr>
              <a:t>FC dominante: ≈84 BPM</a:t>
            </a:r>
            <a:endParaRPr b="0" lang="pt-BR" sz="1400" spc="-1" strike="noStrike">
              <a:latin typeface="Arial"/>
            </a:endParaRPr>
          </a:p>
          <a:p>
            <a:r>
              <a:rPr b="0" lang="pt-BR" sz="1400" spc="-1" strike="noStrike">
                <a:solidFill>
                  <a:srgbClr val="263238"/>
                </a:solidFill>
                <a:latin typeface="Arial"/>
              </a:rPr>
              <a:t>Ganho no detector: não medido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99" name="Text166"/>
          <p:cNvSpPr txBox="1"/>
          <p:nvPr/>
        </p:nvSpPr>
        <p:spPr>
          <a:xfrm>
            <a:off x="7110000" y="4122000"/>
            <a:ext cx="2412000" cy="94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2000" spc="-1" strike="noStrike">
                <a:solidFill>
                  <a:srgbClr val="263238"/>
                </a:solidFill>
                <a:latin typeface="Arial"/>
              </a:rPr>
              <a:t>Limitação de banda ≠ ganho de exatidão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00" name="Text168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 CSV do ensaio standalone; FC em BPM.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169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Resultados dos demais sensores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202" name="Rect170"/>
          <p:cNvSpPr/>
          <p:nvPr/>
        </p:nvSpPr>
        <p:spPr>
          <a:xfrm>
            <a:off x="504000" y="1134000"/>
            <a:ext cx="4284000" cy="1692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203" name="Text171"/>
          <p:cNvSpPr txBox="1"/>
          <p:nvPr/>
        </p:nvSpPr>
        <p:spPr>
          <a:xfrm>
            <a:off x="630000" y="1249200"/>
            <a:ext cx="403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DS18B20 — temperatura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04" name="Text172"/>
          <p:cNvSpPr txBox="1"/>
          <p:nvPr/>
        </p:nvSpPr>
        <p:spPr>
          <a:xfrm>
            <a:off x="630000" y="1530000"/>
            <a:ext cx="4032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f9a825"/>
                </a:solidFill>
                <a:latin typeface="Arial"/>
              </a:rPr>
              <a:t>Δ −0,9 °C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205" name="Text173"/>
          <p:cNvSpPr txBox="1"/>
          <p:nvPr/>
        </p:nvSpPr>
        <p:spPr>
          <a:xfrm>
            <a:off x="630000" y="1861200"/>
            <a:ext cx="4032000" cy="87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22,5 °C no protótipo × 23,4 °C no comparador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um ponto; resposta térmica funcional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06" name="Rect174"/>
          <p:cNvSpPr/>
          <p:nvPr/>
        </p:nvSpPr>
        <p:spPr>
          <a:xfrm>
            <a:off x="5076000" y="1134000"/>
            <a:ext cx="4284000" cy="1692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207" name="Text175"/>
          <p:cNvSpPr txBox="1"/>
          <p:nvPr/>
        </p:nvSpPr>
        <p:spPr>
          <a:xfrm>
            <a:off x="5202000" y="1249200"/>
            <a:ext cx="403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LTR390 — iluminância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08" name="Text176"/>
          <p:cNvSpPr txBox="1"/>
          <p:nvPr/>
        </p:nvSpPr>
        <p:spPr>
          <a:xfrm>
            <a:off x="5202000" y="1530000"/>
            <a:ext cx="4032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00796b"/>
                </a:solidFill>
                <a:latin typeface="Arial"/>
              </a:rPr>
              <a:t>0 → ~52 klux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209" name="Text177"/>
          <p:cNvSpPr txBox="1"/>
          <p:nvPr/>
        </p:nvSpPr>
        <p:spPr>
          <a:xfrm>
            <a:off x="5202000" y="1861200"/>
            <a:ext cx="4032000" cy="87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do escuro ao sol direto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teto da configuração de ganho 3× e 18 bits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10" name="Rect178"/>
          <p:cNvSpPr/>
          <p:nvPr/>
        </p:nvSpPr>
        <p:spPr>
          <a:xfrm>
            <a:off x="504000" y="3078000"/>
            <a:ext cx="4284000" cy="1692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211" name="Text179"/>
          <p:cNvSpPr txBox="1"/>
          <p:nvPr/>
        </p:nvSpPr>
        <p:spPr>
          <a:xfrm>
            <a:off x="630000" y="3193200"/>
            <a:ext cx="403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Bússola — heading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12" name="Text180"/>
          <p:cNvSpPr txBox="1"/>
          <p:nvPr/>
        </p:nvSpPr>
        <p:spPr>
          <a:xfrm>
            <a:off x="630000" y="3474000"/>
            <a:ext cx="4032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1565c0"/>
                </a:solidFill>
                <a:latin typeface="Arial"/>
              </a:rPr>
              <a:t>+16° / +22°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213" name="Text181"/>
          <p:cNvSpPr txBox="1"/>
          <p:nvPr/>
        </p:nvSpPr>
        <p:spPr>
          <a:xfrm>
            <a:off x="630000" y="3805200"/>
            <a:ext cx="4032000" cy="87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comparação em duas orientações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versão de ensaio referida ao norte magnético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14" name="Rect182"/>
          <p:cNvSpPr/>
          <p:nvPr/>
        </p:nvSpPr>
        <p:spPr>
          <a:xfrm>
            <a:off x="5076000" y="3078000"/>
            <a:ext cx="4284000" cy="1692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215" name="Text183"/>
          <p:cNvSpPr txBox="1"/>
          <p:nvPr/>
        </p:nvSpPr>
        <p:spPr>
          <a:xfrm>
            <a:off x="5202000" y="3193200"/>
            <a:ext cx="403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Pedômetro — 100 m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16" name="Text184"/>
          <p:cNvSpPr txBox="1"/>
          <p:nvPr/>
        </p:nvSpPr>
        <p:spPr>
          <a:xfrm>
            <a:off x="5202000" y="3474000"/>
            <a:ext cx="4032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00796b"/>
                </a:solidFill>
                <a:latin typeface="Arial"/>
              </a:rPr>
              <a:t>131 / 133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217" name="Text185"/>
          <p:cNvSpPr txBox="1"/>
          <p:nvPr/>
        </p:nvSpPr>
        <p:spPr>
          <a:xfrm>
            <a:off x="5202000" y="3805200"/>
            <a:ext cx="4032000" cy="87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manual: 140 / 140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protótipo: erro médio de −5,7%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18" name="Text187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dos ensaios funcionais registrados.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188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RTC e consumo</a:t>
            </a:r>
            <a:endParaRPr b="0" lang="pt-BR" sz="3000" spc="-1" strike="noStrike">
              <a:latin typeface="Arial"/>
            </a:endParaRPr>
          </a:p>
        </p:txBody>
      </p:sp>
      <p:pic>
        <p:nvPicPr>
          <p:cNvPr id="220" name="Image189" descr=""/>
          <p:cNvPicPr/>
          <p:nvPr/>
        </p:nvPicPr>
        <p:blipFill>
          <a:blip r:embed="rId1"/>
          <a:stretch/>
        </p:blipFill>
        <p:spPr>
          <a:xfrm>
            <a:off x="450000" y="1173600"/>
            <a:ext cx="6732000" cy="3556800"/>
          </a:xfrm>
          <a:prstGeom prst="rect">
            <a:avLst/>
          </a:prstGeom>
          <a:ln w="0">
            <a:noFill/>
          </a:ln>
        </p:spPr>
      </p:pic>
      <p:sp>
        <p:nvSpPr>
          <p:cNvPr id="221" name="Rect190"/>
          <p:cNvSpPr/>
          <p:nvPr/>
        </p:nvSpPr>
        <p:spPr>
          <a:xfrm>
            <a:off x="7344000" y="1242000"/>
            <a:ext cx="2052000" cy="1494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222" name="Text191"/>
          <p:cNvSpPr txBox="1"/>
          <p:nvPr/>
        </p:nvSpPr>
        <p:spPr>
          <a:xfrm>
            <a:off x="7470000" y="1357200"/>
            <a:ext cx="18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RTC desligado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23" name="Text192"/>
          <p:cNvSpPr txBox="1"/>
          <p:nvPr/>
        </p:nvSpPr>
        <p:spPr>
          <a:xfrm>
            <a:off x="7470000" y="1638000"/>
            <a:ext cx="180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1565c0"/>
                </a:solidFill>
                <a:latin typeface="Arial"/>
              </a:rPr>
              <a:t>~2 s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224" name="Text193"/>
          <p:cNvSpPr txBox="1"/>
          <p:nvPr/>
        </p:nvSpPr>
        <p:spPr>
          <a:xfrm>
            <a:off x="7470000" y="1969200"/>
            <a:ext cx="1800000" cy="102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CR927 manteve a contagem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um intervalo de 24 h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25" name="Rect194"/>
          <p:cNvSpPr/>
          <p:nvPr/>
        </p:nvSpPr>
        <p:spPr>
          <a:xfrm>
            <a:off x="7344000" y="2970000"/>
            <a:ext cx="2052000" cy="1494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226" name="Text195"/>
          <p:cNvSpPr txBox="1"/>
          <p:nvPr/>
        </p:nvSpPr>
        <p:spPr>
          <a:xfrm>
            <a:off x="7470000" y="3085200"/>
            <a:ext cx="180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Consumo total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27" name="Text196"/>
          <p:cNvSpPr txBox="1"/>
          <p:nvPr/>
        </p:nvSpPr>
        <p:spPr>
          <a:xfrm>
            <a:off x="7470000" y="3366000"/>
            <a:ext cx="1800000" cy="8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f9a825"/>
                </a:solidFill>
                <a:latin typeface="Arial"/>
              </a:rPr>
              <a:t>90–210 mA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228" name="Text197"/>
          <p:cNvSpPr txBox="1"/>
          <p:nvPr/>
        </p:nvSpPr>
        <p:spPr>
          <a:xfrm>
            <a:off x="7470000" y="3697200"/>
            <a:ext cx="1800000" cy="102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nove cenários medidos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sem curva de descarga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29" name="Text199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dos ensaios de RTC e corrente total.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200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Limitações e roadmap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231" name="Rect201"/>
          <p:cNvSpPr/>
          <p:nvPr/>
        </p:nvSpPr>
        <p:spPr>
          <a:xfrm>
            <a:off x="450000" y="1152000"/>
            <a:ext cx="2160000" cy="3492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232" name="Text202"/>
          <p:cNvSpPr txBox="1"/>
          <p:nvPr/>
        </p:nvSpPr>
        <p:spPr>
          <a:xfrm>
            <a:off x="576000" y="1267200"/>
            <a:ext cx="190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1. Robustez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33" name="Text203"/>
          <p:cNvSpPr txBox="1"/>
          <p:nvPr/>
        </p:nvSpPr>
        <p:spPr>
          <a:xfrm>
            <a:off x="576000" y="1548000"/>
            <a:ext cx="1908000" cy="30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CPU e heap por cenário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Memória incremental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Falhas I²C induzidas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Ensaio prolongado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Descarga completa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34" name="Rect204"/>
          <p:cNvSpPr/>
          <p:nvPr/>
        </p:nvSpPr>
        <p:spPr>
          <a:xfrm>
            <a:off x="2790000" y="1152000"/>
            <a:ext cx="2160000" cy="3492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235" name="Text205"/>
          <p:cNvSpPr txBox="1"/>
          <p:nvPr/>
        </p:nvSpPr>
        <p:spPr>
          <a:xfrm>
            <a:off x="2916000" y="1267200"/>
            <a:ext cx="190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2. Energia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36" name="Text206"/>
          <p:cNvSpPr txBox="1"/>
          <p:nvPr/>
        </p:nvSpPr>
        <p:spPr>
          <a:xfrm>
            <a:off x="2916000" y="1548000"/>
            <a:ext cx="1908000" cy="30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Controle do backlight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Desligamento seletivo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Modos de sono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Despertar pelo RTC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Contador de coulombs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37" name="Rect207"/>
          <p:cNvSpPr/>
          <p:nvPr/>
        </p:nvSpPr>
        <p:spPr>
          <a:xfrm>
            <a:off x="5130000" y="1152000"/>
            <a:ext cx="2160000" cy="3492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238" name="Text208"/>
          <p:cNvSpPr txBox="1"/>
          <p:nvPr/>
        </p:nvSpPr>
        <p:spPr>
          <a:xfrm>
            <a:off x="5256000" y="1267200"/>
            <a:ext cx="190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3. Expansão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39" name="Text209"/>
          <p:cNvSpPr txBox="1"/>
          <p:nvPr/>
        </p:nvSpPr>
        <p:spPr>
          <a:xfrm>
            <a:off x="5256000" y="1548000"/>
            <a:ext cx="1908000" cy="30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microSD e histórico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Wi-Fi e Bluetooth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GNSS com RTK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Segurança e consumo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Coordenação do SPI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40" name="Rect210"/>
          <p:cNvSpPr/>
          <p:nvPr/>
        </p:nvSpPr>
        <p:spPr>
          <a:xfrm>
            <a:off x="7470000" y="1152000"/>
            <a:ext cx="2160000" cy="3492000"/>
          </a:xfrm>
          <a:prstGeom prst="rect">
            <a:avLst/>
          </a:prstGeom>
          <a:solidFill>
            <a:srgbClr val="fceeee"/>
          </a:solidFill>
          <a:ln w="12600">
            <a:solidFill>
              <a:srgbClr val="c62828"/>
            </a:solidFill>
            <a:round/>
          </a:ln>
        </p:spPr>
      </p:sp>
      <p:sp>
        <p:nvSpPr>
          <p:cNvPr id="241" name="Text211"/>
          <p:cNvSpPr txBox="1"/>
          <p:nvPr/>
        </p:nvSpPr>
        <p:spPr>
          <a:xfrm>
            <a:off x="7596000" y="1267200"/>
            <a:ext cx="190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4. Algoritmos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42" name="Text212"/>
          <p:cNvSpPr txBox="1"/>
          <p:nvPr/>
        </p:nvSpPr>
        <p:spPr>
          <a:xfrm>
            <a:off x="7596000" y="1548000"/>
            <a:ext cx="1908000" cy="30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Tilt compensation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Soft-iron matricial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Pedômetro adaptativo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Qualidade do PPG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Registro de módulos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43" name="Text214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das limitações e trabalhos futuros.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215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Conclusões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245" name="Rect216"/>
          <p:cNvSpPr/>
          <p:nvPr/>
        </p:nvSpPr>
        <p:spPr>
          <a:xfrm>
            <a:off x="504000" y="1188000"/>
            <a:ext cx="2772000" cy="2736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246" name="Text217"/>
          <p:cNvSpPr txBox="1"/>
          <p:nvPr/>
        </p:nvSpPr>
        <p:spPr>
          <a:xfrm>
            <a:off x="630000" y="1303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Integração realizada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47" name="Text218"/>
          <p:cNvSpPr txBox="1"/>
          <p:nvPr/>
        </p:nvSpPr>
        <p:spPr>
          <a:xfrm>
            <a:off x="630000" y="1584000"/>
            <a:ext cx="252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00796b"/>
                </a:solidFill>
                <a:latin typeface="Arial"/>
              </a:rPr>
              <a:t>executável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248" name="Text219"/>
          <p:cNvSpPr txBox="1"/>
          <p:nvPr/>
        </p:nvSpPr>
        <p:spPr>
          <a:xfrm>
            <a:off x="630000" y="1915200"/>
            <a:ext cx="2520000" cy="191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Placa e invólucro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Quatro módulos sensoriais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Interface e RTC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49" name="Rect220"/>
          <p:cNvSpPr/>
          <p:nvPr/>
        </p:nvSpPr>
        <p:spPr>
          <a:xfrm>
            <a:off x="3654000" y="1188000"/>
            <a:ext cx="2772000" cy="2736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250" name="Text221"/>
          <p:cNvSpPr txBox="1"/>
          <p:nvPr/>
        </p:nvSpPr>
        <p:spPr>
          <a:xfrm>
            <a:off x="3780000" y="1303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Arquitetura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51" name="Text222"/>
          <p:cNvSpPr txBox="1"/>
          <p:nvPr/>
        </p:nvSpPr>
        <p:spPr>
          <a:xfrm>
            <a:off x="3780000" y="1584000"/>
            <a:ext cx="252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1565c0"/>
                </a:solidFill>
                <a:latin typeface="Arial"/>
              </a:rPr>
              <a:t>678 linhas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252" name="Text223"/>
          <p:cNvSpPr txBox="1"/>
          <p:nvPr/>
        </p:nvSpPr>
        <p:spPr>
          <a:xfrm>
            <a:off x="3780000" y="1915200"/>
            <a:ext cx="2520000" cy="191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Reutilizadas sem alteração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Serviços compartilhados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Mudanças localizadas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53" name="Rect224"/>
          <p:cNvSpPr/>
          <p:nvPr/>
        </p:nvSpPr>
        <p:spPr>
          <a:xfrm>
            <a:off x="6804000" y="1188000"/>
            <a:ext cx="2772000" cy="2736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254" name="Text225"/>
          <p:cNvSpPr txBox="1"/>
          <p:nvPr/>
        </p:nvSpPr>
        <p:spPr>
          <a:xfrm>
            <a:off x="6930000" y="1303200"/>
            <a:ext cx="252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Evidência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55" name="Text226"/>
          <p:cNvSpPr txBox="1"/>
          <p:nvPr/>
        </p:nvSpPr>
        <p:spPr>
          <a:xfrm>
            <a:off x="6930000" y="1584000"/>
            <a:ext cx="2520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f9a825"/>
                </a:solidFill>
                <a:latin typeface="Arial"/>
              </a:rPr>
              <a:t>atingido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256" name="Text227"/>
          <p:cNvSpPr txBox="1"/>
          <p:nvPr/>
        </p:nvSpPr>
        <p:spPr>
          <a:xfrm>
            <a:off x="6930000" y="1915200"/>
            <a:ext cx="2520000" cy="191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Objetivo central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Build enquadrado</a:t>
            </a:r>
            <a:endParaRPr b="0" lang="pt-BR" sz="1600" spc="-1" strike="noStrike">
              <a:latin typeface="Arial"/>
            </a:endParaRPr>
          </a:p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Ensaios delimitados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57" name="Text228"/>
          <p:cNvSpPr txBox="1"/>
          <p:nvPr/>
        </p:nvSpPr>
        <p:spPr>
          <a:xfrm>
            <a:off x="756000" y="4230000"/>
            <a:ext cx="8568000" cy="74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2300" spc="-1" strike="noStrike">
                <a:solidFill>
                  <a:srgbClr val="263238"/>
                </a:solidFill>
                <a:latin typeface="Arial"/>
              </a:rPr>
              <a:t>Uma base concreta para evoluir a integração multissensor no ESP32-C6.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258" name="Text230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síntese elaborada pelo autor.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231"/>
          <p:cNvSpPr txBox="1"/>
          <p:nvPr/>
        </p:nvSpPr>
        <p:spPr>
          <a:xfrm>
            <a:off x="1800000" y="1206000"/>
            <a:ext cx="540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3400" spc="-1" strike="noStrike">
                <a:solidFill>
                  <a:srgbClr val="45982f"/>
                </a:solidFill>
                <a:latin typeface="Arial"/>
              </a:rPr>
              <a:t>Obrigado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260" name="Text232"/>
          <p:cNvSpPr txBox="1"/>
          <p:nvPr/>
        </p:nvSpPr>
        <p:spPr>
          <a:xfrm>
            <a:off x="1800000" y="1962000"/>
            <a:ext cx="540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pt-BR" sz="2300" spc="-1" strike="noStrike">
                <a:solidFill>
                  <a:srgbClr val="263238"/>
                </a:solidFill>
                <a:latin typeface="Arial"/>
              </a:rPr>
              <a:t>Perguntas?</a:t>
            </a:r>
            <a:endParaRPr b="0" lang="pt-BR" sz="2300" spc="-1" strike="noStrike">
              <a:latin typeface="Arial"/>
            </a:endParaRPr>
          </a:p>
        </p:txBody>
      </p:sp>
      <p:pic>
        <p:nvPicPr>
          <p:cNvPr id="261" name="Image233" descr=""/>
          <p:cNvPicPr/>
          <p:nvPr/>
        </p:nvPicPr>
        <p:blipFill>
          <a:blip r:embed="rId1"/>
          <a:stretch/>
        </p:blipFill>
        <p:spPr>
          <a:xfrm>
            <a:off x="7272000" y="1079280"/>
            <a:ext cx="1944000" cy="3457800"/>
          </a:xfrm>
          <a:prstGeom prst="rect">
            <a:avLst/>
          </a:prstGeom>
          <a:ln w="12600">
            <a:solidFill>
              <a:srgbClr val="45982f"/>
            </a:solidFill>
            <a:round/>
          </a:ln>
        </p:spPr>
      </p:pic>
      <p:sp>
        <p:nvSpPr>
          <p:cNvPr id="262" name="Text234"/>
          <p:cNvSpPr txBox="1"/>
          <p:nvPr/>
        </p:nvSpPr>
        <p:spPr>
          <a:xfrm>
            <a:off x="1800000" y="3024000"/>
            <a:ext cx="5328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700" spc="-1" strike="noStrike">
                <a:solidFill>
                  <a:srgbClr val="00796b"/>
                </a:solidFill>
                <a:latin typeface="Arial"/>
              </a:rPr>
              <a:t>Guilherme da Costa Franco</a:t>
            </a:r>
            <a:endParaRPr b="0" lang="pt-BR" sz="1700" spc="-1" strike="noStrike">
              <a:latin typeface="Arial"/>
            </a:endParaRPr>
          </a:p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Engenharia Eletrônica · IFSC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63" name="Text236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 da fotografia: acervo do autor (2026).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237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Mapa completo de navegação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265" name="Text238"/>
          <p:cNvSpPr txBox="1"/>
          <p:nvPr/>
        </p:nvSpPr>
        <p:spPr>
          <a:xfrm>
            <a:off x="8028000" y="784800"/>
            <a:ext cx="144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pt-BR" sz="1000" spc="-1" strike="noStrike">
                <a:solidFill>
                  <a:srgbClr val="00796b"/>
                </a:solidFill>
                <a:latin typeface="Arial"/>
              </a:rPr>
              <a:t>APOIO TÉCNICO</a:t>
            </a:r>
            <a:endParaRPr b="0" lang="pt-BR" sz="1000" spc="-1" strike="noStrike">
              <a:latin typeface="Arial"/>
            </a:endParaRPr>
          </a:p>
        </p:txBody>
      </p:sp>
      <p:pic>
        <p:nvPicPr>
          <p:cNvPr id="266" name="Image239" descr=""/>
          <p:cNvPicPr/>
          <p:nvPr/>
        </p:nvPicPr>
        <p:blipFill>
          <a:blip r:embed="rId1"/>
          <a:stretch/>
        </p:blipFill>
        <p:spPr>
          <a:xfrm>
            <a:off x="1647360" y="1080000"/>
            <a:ext cx="6749280" cy="3924000"/>
          </a:xfrm>
          <a:prstGeom prst="rect">
            <a:avLst/>
          </a:prstGeom>
          <a:ln w="0">
            <a:noFill/>
          </a:ln>
        </p:spPr>
      </p:pic>
      <p:sp>
        <p:nvSpPr>
          <p:cNvPr id="267" name="Text241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dos callbacks e telas do firmware corrente.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242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Tarefas, prioridades e cadências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269" name="Text243"/>
          <p:cNvSpPr txBox="1"/>
          <p:nvPr/>
        </p:nvSpPr>
        <p:spPr>
          <a:xfrm>
            <a:off x="8028000" y="784800"/>
            <a:ext cx="144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pt-BR" sz="1000" spc="-1" strike="noStrike">
                <a:solidFill>
                  <a:srgbClr val="00796b"/>
                </a:solidFill>
                <a:latin typeface="Arial"/>
              </a:rPr>
              <a:t>APOIO TÉCNICO</a:t>
            </a:r>
            <a:endParaRPr b="0" lang="pt-BR" sz="1000" spc="-1" strike="noStrike">
              <a:latin typeface="Arial"/>
            </a:endParaRPr>
          </a:p>
        </p:txBody>
      </p:sp>
      <p:pic>
        <p:nvPicPr>
          <p:cNvPr id="270" name="Image244" descr=""/>
          <p:cNvPicPr/>
          <p:nvPr/>
        </p:nvPicPr>
        <p:blipFill>
          <a:blip r:embed="rId1"/>
          <a:stretch/>
        </p:blipFill>
        <p:spPr>
          <a:xfrm>
            <a:off x="1065240" y="1080000"/>
            <a:ext cx="7913520" cy="3888000"/>
          </a:xfrm>
          <a:prstGeom prst="rect">
            <a:avLst/>
          </a:prstGeom>
          <a:ln w="0">
            <a:noFill/>
          </a:ln>
        </p:spPr>
      </p:pic>
      <p:sp>
        <p:nvSpPr>
          <p:cNvPr id="271" name="Text246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a partir do firmware e sdkconfig.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247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I²C: elétrica, endereços e recuperação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273" name="Text248"/>
          <p:cNvSpPr txBox="1"/>
          <p:nvPr/>
        </p:nvSpPr>
        <p:spPr>
          <a:xfrm>
            <a:off x="8028000" y="784800"/>
            <a:ext cx="144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pt-BR" sz="1000" spc="-1" strike="noStrike">
                <a:solidFill>
                  <a:srgbClr val="00796b"/>
                </a:solidFill>
                <a:latin typeface="Arial"/>
              </a:rPr>
              <a:t>APOIO TÉCNICO</a:t>
            </a:r>
            <a:endParaRPr b="0" lang="pt-BR" sz="1000" spc="-1" strike="noStrike">
              <a:latin typeface="Arial"/>
            </a:endParaRPr>
          </a:p>
        </p:txBody>
      </p:sp>
      <p:pic>
        <p:nvPicPr>
          <p:cNvPr id="274" name="Image249" descr=""/>
          <p:cNvPicPr/>
          <p:nvPr/>
        </p:nvPicPr>
        <p:blipFill>
          <a:blip r:embed="rId1"/>
          <a:stretch/>
        </p:blipFill>
        <p:spPr>
          <a:xfrm>
            <a:off x="414000" y="1645200"/>
            <a:ext cx="4536000" cy="2721600"/>
          </a:xfrm>
          <a:prstGeom prst="rect">
            <a:avLst/>
          </a:prstGeom>
          <a:ln w="0">
            <a:noFill/>
          </a:ln>
        </p:spPr>
      </p:pic>
      <p:pic>
        <p:nvPicPr>
          <p:cNvPr id="275" name="Image250" descr=""/>
          <p:cNvPicPr/>
          <p:nvPr/>
        </p:nvPicPr>
        <p:blipFill>
          <a:blip r:embed="rId2"/>
          <a:stretch/>
        </p:blipFill>
        <p:spPr>
          <a:xfrm>
            <a:off x="5094000" y="1399680"/>
            <a:ext cx="4392000" cy="3213000"/>
          </a:xfrm>
          <a:prstGeom prst="rect">
            <a:avLst/>
          </a:prstGeom>
          <a:ln w="0">
            <a:noFill/>
          </a:ln>
        </p:spPr>
      </p:pic>
      <p:sp>
        <p:nvSpPr>
          <p:cNvPr id="276" name="Text252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com base no firmware e em NXP UM10204.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253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Parâmetros finais dos sensores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278" name="Text254"/>
          <p:cNvSpPr txBox="1"/>
          <p:nvPr/>
        </p:nvSpPr>
        <p:spPr>
          <a:xfrm>
            <a:off x="8028000" y="784800"/>
            <a:ext cx="144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pt-BR" sz="1000" spc="-1" strike="noStrike">
                <a:solidFill>
                  <a:srgbClr val="00796b"/>
                </a:solidFill>
                <a:latin typeface="Arial"/>
              </a:rPr>
              <a:t>APOIO TÉCNICO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9" name="Rect255"/>
          <p:cNvSpPr/>
          <p:nvPr/>
        </p:nvSpPr>
        <p:spPr>
          <a:xfrm>
            <a:off x="486000" y="1134000"/>
            <a:ext cx="9108000" cy="666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280" name="Text256"/>
          <p:cNvSpPr txBox="1"/>
          <p:nvPr/>
        </p:nvSpPr>
        <p:spPr>
          <a:xfrm>
            <a:off x="612000" y="1249200"/>
            <a:ext cx="1584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MAX30102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81" name="Text257"/>
          <p:cNvSpPr txBox="1"/>
          <p:nvPr/>
        </p:nvSpPr>
        <p:spPr>
          <a:xfrm>
            <a:off x="2178000" y="1249200"/>
            <a:ext cx="226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0x57 · 100 Hz · 18 bits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82" name="Text258"/>
          <p:cNvSpPr txBox="1"/>
          <p:nvPr/>
        </p:nvSpPr>
        <p:spPr>
          <a:xfrm>
            <a:off x="4482000" y="1249200"/>
            <a:ext cx="2232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SPO2_CONFIG 0x67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83" name="Text259"/>
          <p:cNvSpPr txBox="1"/>
          <p:nvPr/>
        </p:nvSpPr>
        <p:spPr>
          <a:xfrm>
            <a:off x="6732000" y="1249200"/>
            <a:ext cx="262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LEDs 0x24 ≈ 7,2 mA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84" name="Rect260"/>
          <p:cNvSpPr/>
          <p:nvPr/>
        </p:nvSpPr>
        <p:spPr>
          <a:xfrm>
            <a:off x="486000" y="1872000"/>
            <a:ext cx="9108000" cy="666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285" name="Text261"/>
          <p:cNvSpPr txBox="1"/>
          <p:nvPr/>
        </p:nvSpPr>
        <p:spPr>
          <a:xfrm>
            <a:off x="612000" y="1987200"/>
            <a:ext cx="1584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DS18B20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86" name="Text262"/>
          <p:cNvSpPr txBox="1"/>
          <p:nvPr/>
        </p:nvSpPr>
        <p:spPr>
          <a:xfrm>
            <a:off x="2178000" y="1987200"/>
            <a:ext cx="226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GPIO20 · 1-Wire/RMT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87" name="Text263"/>
          <p:cNvSpPr txBox="1"/>
          <p:nvPr/>
        </p:nvSpPr>
        <p:spPr>
          <a:xfrm>
            <a:off x="4482000" y="1987200"/>
            <a:ext cx="2232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11 bits · 375 ms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88" name="Text264"/>
          <p:cNvSpPr txBox="1"/>
          <p:nvPr/>
        </p:nvSpPr>
        <p:spPr>
          <a:xfrm>
            <a:off x="6732000" y="1987200"/>
            <a:ext cx="262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EMA 0,50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89" name="Rect265"/>
          <p:cNvSpPr/>
          <p:nvPr/>
        </p:nvSpPr>
        <p:spPr>
          <a:xfrm>
            <a:off x="486000" y="2610000"/>
            <a:ext cx="9108000" cy="666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290" name="Text266"/>
          <p:cNvSpPr txBox="1"/>
          <p:nvPr/>
        </p:nvSpPr>
        <p:spPr>
          <a:xfrm>
            <a:off x="612000" y="2725200"/>
            <a:ext cx="1584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LTR390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91" name="Text267"/>
          <p:cNvSpPr txBox="1"/>
          <p:nvPr/>
        </p:nvSpPr>
        <p:spPr>
          <a:xfrm>
            <a:off x="2178000" y="2725200"/>
            <a:ext cx="226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0x53 · 18 bits/100 ms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92" name="Text268"/>
          <p:cNvSpPr txBox="1"/>
          <p:nvPr/>
        </p:nvSpPr>
        <p:spPr>
          <a:xfrm>
            <a:off x="4482000" y="2725200"/>
            <a:ext cx="2232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ganhos ALS 3× / UVS 18×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93" name="Text269"/>
          <p:cNvSpPr txBox="1"/>
          <p:nvPr/>
        </p:nvSpPr>
        <p:spPr>
          <a:xfrm>
            <a:off x="6732000" y="2725200"/>
            <a:ext cx="262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3 amostras de settling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94" name="Rect270"/>
          <p:cNvSpPr/>
          <p:nvPr/>
        </p:nvSpPr>
        <p:spPr>
          <a:xfrm>
            <a:off x="486000" y="3348000"/>
            <a:ext cx="9108000" cy="666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295" name="Text271"/>
          <p:cNvSpPr txBox="1"/>
          <p:nvPr/>
        </p:nvSpPr>
        <p:spPr>
          <a:xfrm>
            <a:off x="612000" y="3463200"/>
            <a:ext cx="1584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MPU/AK8963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96" name="Text272"/>
          <p:cNvSpPr txBox="1"/>
          <p:nvPr/>
        </p:nvSpPr>
        <p:spPr>
          <a:xfrm>
            <a:off x="2178000" y="3463200"/>
            <a:ext cx="226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0x68 / 0x0C · 100 kHz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97" name="Text273"/>
          <p:cNvSpPr txBox="1"/>
          <p:nvPr/>
        </p:nvSpPr>
        <p:spPr>
          <a:xfrm>
            <a:off x="4482000" y="3463200"/>
            <a:ext cx="2232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magnetômetro 16 bits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98" name="Text274"/>
          <p:cNvSpPr txBox="1"/>
          <p:nvPr/>
        </p:nvSpPr>
        <p:spPr>
          <a:xfrm>
            <a:off x="6732000" y="3463200"/>
            <a:ext cx="262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12 setores · NVS compass/cal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99" name="Rect275"/>
          <p:cNvSpPr/>
          <p:nvPr/>
        </p:nvSpPr>
        <p:spPr>
          <a:xfrm>
            <a:off x="486000" y="4086000"/>
            <a:ext cx="9108000" cy="666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300" name="Text276"/>
          <p:cNvSpPr txBox="1"/>
          <p:nvPr/>
        </p:nvSpPr>
        <p:spPr>
          <a:xfrm>
            <a:off x="612000" y="4201200"/>
            <a:ext cx="1584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Pedômetro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01" name="Text277"/>
          <p:cNvSpPr txBox="1"/>
          <p:nvPr/>
        </p:nvSpPr>
        <p:spPr>
          <a:xfrm>
            <a:off x="2178000" y="4201200"/>
            <a:ext cx="226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~50 Hz · EMA 0,2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02" name="Text278"/>
          <p:cNvSpPr txBox="1"/>
          <p:nvPr/>
        </p:nvSpPr>
        <p:spPr>
          <a:xfrm>
            <a:off x="4482000" y="4201200"/>
            <a:ext cx="2232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limiar 1,15 g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03" name="Text279"/>
          <p:cNvSpPr txBox="1"/>
          <p:nvPr/>
        </p:nvSpPr>
        <p:spPr>
          <a:xfrm>
            <a:off x="6732000" y="4201200"/>
            <a:ext cx="2628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300" spc="-1" strike="noStrike">
                <a:solidFill>
                  <a:srgbClr val="263238"/>
                </a:solidFill>
                <a:latin typeface="Arial"/>
              </a:rPr>
              <a:t>histerese 0,05 g · 300 ms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04" name="Text281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firmware integrado em Codigos/IDroid/main/.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282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Calibração magnética e limitações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306" name="Text283"/>
          <p:cNvSpPr txBox="1"/>
          <p:nvPr/>
        </p:nvSpPr>
        <p:spPr>
          <a:xfrm>
            <a:off x="8028000" y="784800"/>
            <a:ext cx="144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pt-BR" sz="1000" spc="-1" strike="noStrike">
                <a:solidFill>
                  <a:srgbClr val="00796b"/>
                </a:solidFill>
                <a:latin typeface="Arial"/>
              </a:rPr>
              <a:t>APOIO TÉCNICO</a:t>
            </a:r>
            <a:endParaRPr b="0" lang="pt-BR" sz="1000" spc="-1" strike="noStrike">
              <a:latin typeface="Arial"/>
            </a:endParaRPr>
          </a:p>
        </p:txBody>
      </p:sp>
      <p:pic>
        <p:nvPicPr>
          <p:cNvPr id="307" name="Image284" descr=""/>
          <p:cNvPicPr/>
          <p:nvPr/>
        </p:nvPicPr>
        <p:blipFill>
          <a:blip r:embed="rId1"/>
          <a:stretch/>
        </p:blipFill>
        <p:spPr>
          <a:xfrm>
            <a:off x="396000" y="1743840"/>
            <a:ext cx="4572000" cy="2560320"/>
          </a:xfrm>
          <a:prstGeom prst="rect">
            <a:avLst/>
          </a:prstGeom>
          <a:ln w="0">
            <a:noFill/>
          </a:ln>
        </p:spPr>
      </p:pic>
      <p:pic>
        <p:nvPicPr>
          <p:cNvPr id="308" name="Image285" descr=""/>
          <p:cNvPicPr/>
          <p:nvPr/>
        </p:nvPicPr>
        <p:blipFill>
          <a:blip r:embed="rId2"/>
          <a:stretch/>
        </p:blipFill>
        <p:spPr>
          <a:xfrm>
            <a:off x="5094000" y="1446120"/>
            <a:ext cx="4428000" cy="3155760"/>
          </a:xfrm>
          <a:prstGeom prst="rect">
            <a:avLst/>
          </a:prstGeom>
          <a:ln w="0">
            <a:noFill/>
          </a:ln>
        </p:spPr>
      </p:pic>
      <p:sp>
        <p:nvSpPr>
          <p:cNvPr id="309" name="Text287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elaborado pelo autor com base em Renaudin, Afzal e Lachapelle (2010) e no firmware.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288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Memória e build final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311" name="Text289"/>
          <p:cNvSpPr txBox="1"/>
          <p:nvPr/>
        </p:nvSpPr>
        <p:spPr>
          <a:xfrm>
            <a:off x="8028000" y="784800"/>
            <a:ext cx="144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pt-BR" sz="1000" spc="-1" strike="noStrike">
                <a:solidFill>
                  <a:srgbClr val="00796b"/>
                </a:solidFill>
                <a:latin typeface="Arial"/>
              </a:rPr>
              <a:t>APOIO TÉCNICO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12" name="Rect290"/>
          <p:cNvSpPr/>
          <p:nvPr/>
        </p:nvSpPr>
        <p:spPr>
          <a:xfrm>
            <a:off x="486000" y="1170000"/>
            <a:ext cx="2808000" cy="1350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313" name="Text291"/>
          <p:cNvSpPr txBox="1"/>
          <p:nvPr/>
        </p:nvSpPr>
        <p:spPr>
          <a:xfrm>
            <a:off x="612000" y="1285200"/>
            <a:ext cx="255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Partição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14" name="Text292"/>
          <p:cNvSpPr txBox="1"/>
          <p:nvPr/>
        </p:nvSpPr>
        <p:spPr>
          <a:xfrm>
            <a:off x="612000" y="1566000"/>
            <a:ext cx="2556000" cy="8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1565c0"/>
                </a:solidFill>
                <a:latin typeface="Arial"/>
              </a:rPr>
              <a:t>1.048.576 bytes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315" name="Text293"/>
          <p:cNvSpPr txBox="1"/>
          <p:nvPr/>
        </p:nvSpPr>
        <p:spPr>
          <a:xfrm>
            <a:off x="612000" y="1897200"/>
            <a:ext cx="2556000" cy="53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valor da configuração final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16" name="Rect294"/>
          <p:cNvSpPr/>
          <p:nvPr/>
        </p:nvSpPr>
        <p:spPr>
          <a:xfrm>
            <a:off x="3564000" y="1170000"/>
            <a:ext cx="2808000" cy="1350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317" name="Text295"/>
          <p:cNvSpPr txBox="1"/>
          <p:nvPr/>
        </p:nvSpPr>
        <p:spPr>
          <a:xfrm>
            <a:off x="3690000" y="1285200"/>
            <a:ext cx="255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Binário gravável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18" name="Text296"/>
          <p:cNvSpPr txBox="1"/>
          <p:nvPr/>
        </p:nvSpPr>
        <p:spPr>
          <a:xfrm>
            <a:off x="3690000" y="1566000"/>
            <a:ext cx="2556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00796b"/>
                </a:solidFill>
                <a:latin typeface="Arial"/>
              </a:rPr>
              <a:t>784.240 bytes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319" name="Text297"/>
          <p:cNvSpPr txBox="1"/>
          <p:nvPr/>
        </p:nvSpPr>
        <p:spPr>
          <a:xfrm>
            <a:off x="3690000" y="1897200"/>
            <a:ext cx="2556000" cy="53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valor da configuração final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20" name="Rect298"/>
          <p:cNvSpPr/>
          <p:nvPr/>
        </p:nvSpPr>
        <p:spPr>
          <a:xfrm>
            <a:off x="6642000" y="1170000"/>
            <a:ext cx="2808000" cy="1350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321" name="Text299"/>
          <p:cNvSpPr txBox="1"/>
          <p:nvPr/>
        </p:nvSpPr>
        <p:spPr>
          <a:xfrm>
            <a:off x="6768000" y="1285200"/>
            <a:ext cx="255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Ocupação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22" name="Text300"/>
          <p:cNvSpPr txBox="1"/>
          <p:nvPr/>
        </p:nvSpPr>
        <p:spPr>
          <a:xfrm>
            <a:off x="6768000" y="1566000"/>
            <a:ext cx="2556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f9a825"/>
                </a:solidFill>
                <a:latin typeface="Arial"/>
              </a:rPr>
              <a:t>74,79%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323" name="Text301"/>
          <p:cNvSpPr txBox="1"/>
          <p:nvPr/>
        </p:nvSpPr>
        <p:spPr>
          <a:xfrm>
            <a:off x="6768000" y="1897200"/>
            <a:ext cx="2556000" cy="53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valor da configuração final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24" name="Rect302"/>
          <p:cNvSpPr/>
          <p:nvPr/>
        </p:nvSpPr>
        <p:spPr>
          <a:xfrm>
            <a:off x="486000" y="2808000"/>
            <a:ext cx="2808000" cy="1350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325" name="Text303"/>
          <p:cNvSpPr txBox="1"/>
          <p:nvPr/>
        </p:nvSpPr>
        <p:spPr>
          <a:xfrm>
            <a:off x="612000" y="2923200"/>
            <a:ext cx="255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Folga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26" name="Text304"/>
          <p:cNvSpPr txBox="1"/>
          <p:nvPr/>
        </p:nvSpPr>
        <p:spPr>
          <a:xfrm>
            <a:off x="612000" y="3204000"/>
            <a:ext cx="2556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1565c0"/>
                </a:solidFill>
                <a:latin typeface="Arial"/>
              </a:rPr>
              <a:t>264.336 bytes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327" name="Text305"/>
          <p:cNvSpPr txBox="1"/>
          <p:nvPr/>
        </p:nvSpPr>
        <p:spPr>
          <a:xfrm>
            <a:off x="612000" y="3535200"/>
            <a:ext cx="2556000" cy="53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valor da configuração final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28" name="Rect306"/>
          <p:cNvSpPr/>
          <p:nvPr/>
        </p:nvSpPr>
        <p:spPr>
          <a:xfrm>
            <a:off x="3564000" y="2808000"/>
            <a:ext cx="2808000" cy="1350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329" name="Text307"/>
          <p:cNvSpPr txBox="1"/>
          <p:nvPr/>
        </p:nvSpPr>
        <p:spPr>
          <a:xfrm>
            <a:off x="3690000" y="2923200"/>
            <a:ext cx="255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Pool LVGL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30" name="Text308"/>
          <p:cNvSpPr txBox="1"/>
          <p:nvPr/>
        </p:nvSpPr>
        <p:spPr>
          <a:xfrm>
            <a:off x="3690000" y="3204000"/>
            <a:ext cx="2556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00796b"/>
                </a:solidFill>
                <a:latin typeface="Arial"/>
              </a:rPr>
              <a:t>96 KiB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331" name="Text309"/>
          <p:cNvSpPr txBox="1"/>
          <p:nvPr/>
        </p:nvSpPr>
        <p:spPr>
          <a:xfrm>
            <a:off x="3690000" y="3535200"/>
            <a:ext cx="2556000" cy="53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valor da configuração final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32" name="Rect310"/>
          <p:cNvSpPr/>
          <p:nvPr/>
        </p:nvSpPr>
        <p:spPr>
          <a:xfrm>
            <a:off x="6642000" y="2808000"/>
            <a:ext cx="2808000" cy="1350000"/>
          </a:xfrm>
          <a:prstGeom prst="rect">
            <a:avLst/>
          </a:prstGeom>
          <a:solidFill>
            <a:srgbClr val="fff7df"/>
          </a:solidFill>
          <a:ln w="12600">
            <a:solidFill>
              <a:srgbClr val="f9a825"/>
            </a:solidFill>
            <a:round/>
          </a:ln>
        </p:spPr>
      </p:sp>
      <p:sp>
        <p:nvSpPr>
          <p:cNvPr id="333" name="Text311"/>
          <p:cNvSpPr txBox="1"/>
          <p:nvPr/>
        </p:nvSpPr>
        <p:spPr>
          <a:xfrm>
            <a:off x="6768000" y="2923200"/>
            <a:ext cx="2556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DIRAM estática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34" name="Text312"/>
          <p:cNvSpPr txBox="1"/>
          <p:nvPr/>
        </p:nvSpPr>
        <p:spPr>
          <a:xfrm>
            <a:off x="6768000" y="3204000"/>
            <a:ext cx="2556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2700" spc="-1" strike="noStrike">
                <a:solidFill>
                  <a:srgbClr val="f9a825"/>
                </a:solidFill>
                <a:latin typeface="Arial"/>
              </a:rPr>
              <a:t>179.360 bytes</a:t>
            </a:r>
            <a:endParaRPr b="0" lang="pt-BR" sz="2700" spc="-1" strike="noStrike">
              <a:latin typeface="Arial"/>
            </a:endParaRPr>
          </a:p>
        </p:txBody>
      </p:sp>
      <p:sp>
        <p:nvSpPr>
          <p:cNvPr id="335" name="Text313"/>
          <p:cNvSpPr txBox="1"/>
          <p:nvPr/>
        </p:nvSpPr>
        <p:spPr>
          <a:xfrm>
            <a:off x="6768000" y="3535200"/>
            <a:ext cx="2556000" cy="53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valor da configuração final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36" name="Rect314"/>
          <p:cNvSpPr/>
          <p:nvPr/>
        </p:nvSpPr>
        <p:spPr>
          <a:xfrm>
            <a:off x="2034000" y="4392000"/>
            <a:ext cx="5904000" cy="486000"/>
          </a:xfrm>
          <a:prstGeom prst="rect">
            <a:avLst/>
          </a:prstGeom>
          <a:solidFill>
            <a:srgbClr val="fceeee"/>
          </a:solidFill>
          <a:ln w="12600">
            <a:solidFill>
              <a:srgbClr val="c62828"/>
            </a:solidFill>
            <a:round/>
          </a:ln>
        </p:spPr>
      </p:sp>
      <p:sp>
        <p:nvSpPr>
          <p:cNvPr id="337" name="Text315"/>
          <p:cNvSpPr txBox="1"/>
          <p:nvPr/>
        </p:nvSpPr>
        <p:spPr>
          <a:xfrm>
            <a:off x="2160000" y="4507200"/>
            <a:ext cx="565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Não medido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38" name="Text316"/>
          <p:cNvSpPr txBox="1"/>
          <p:nvPr/>
        </p:nvSpPr>
        <p:spPr>
          <a:xfrm>
            <a:off x="2160000" y="4788000"/>
            <a:ext cx="565200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263238"/>
                </a:solidFill>
                <a:latin typeface="Arial"/>
              </a:rPr>
              <a:t>heap e CPU por cenário · memória incremental por módulo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339" name="Text318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build limpo, relatório size e mapa estático da versão final.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319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Ensaios e alcance das evidências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341" name="Text320"/>
          <p:cNvSpPr txBox="1"/>
          <p:nvPr/>
        </p:nvSpPr>
        <p:spPr>
          <a:xfrm>
            <a:off x="8028000" y="784800"/>
            <a:ext cx="144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pt-BR" sz="1000" spc="-1" strike="noStrike">
                <a:solidFill>
                  <a:srgbClr val="00796b"/>
                </a:solidFill>
                <a:latin typeface="Arial"/>
              </a:rPr>
              <a:t>APOIO TÉCNICO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2" name="Rect321"/>
          <p:cNvSpPr/>
          <p:nvPr/>
        </p:nvSpPr>
        <p:spPr>
          <a:xfrm>
            <a:off x="450000" y="1098000"/>
            <a:ext cx="9180000" cy="511200"/>
          </a:xfrm>
          <a:prstGeom prst="rect">
            <a:avLst/>
          </a:prstGeom>
          <a:solidFill>
            <a:srgbClr val="f4f8f5"/>
          </a:solidFill>
          <a:ln w="12600">
            <a:solidFill>
              <a:srgbClr val="b7c8be"/>
            </a:solidFill>
            <a:round/>
          </a:ln>
        </p:spPr>
      </p:sp>
      <p:sp>
        <p:nvSpPr>
          <p:cNvPr id="343" name="Text322"/>
          <p:cNvSpPr txBox="1"/>
          <p:nvPr/>
        </p:nvSpPr>
        <p:spPr>
          <a:xfrm>
            <a:off x="558000" y="1170000"/>
            <a:ext cx="151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Arquitetura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44" name="Text323"/>
          <p:cNvSpPr txBox="1"/>
          <p:nvPr/>
        </p:nvSpPr>
        <p:spPr>
          <a:xfrm>
            <a:off x="2070000" y="1170000"/>
            <a:ext cx="2628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diff, build e remoção de sensores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45" name="Text324"/>
          <p:cNvSpPr txBox="1"/>
          <p:nvPr/>
        </p:nvSpPr>
        <p:spPr>
          <a:xfrm>
            <a:off x="4716000" y="1170000"/>
            <a:ext cx="4680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localização e contenção nas condições testadas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46" name="Rect325"/>
          <p:cNvSpPr/>
          <p:nvPr/>
        </p:nvSpPr>
        <p:spPr>
          <a:xfrm>
            <a:off x="450000" y="1656000"/>
            <a:ext cx="9180000" cy="5112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347" name="Text326"/>
          <p:cNvSpPr txBox="1"/>
          <p:nvPr/>
        </p:nvSpPr>
        <p:spPr>
          <a:xfrm>
            <a:off x="558000" y="1728000"/>
            <a:ext cx="151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PPG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48" name="Text327"/>
          <p:cNvSpPr txBox="1"/>
          <p:nvPr/>
        </p:nvSpPr>
        <p:spPr>
          <a:xfrm>
            <a:off x="2070000" y="1728000"/>
            <a:ext cx="2628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CSV + oxímetro/Amazfit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49" name="Text328"/>
          <p:cNvSpPr txBox="1"/>
          <p:nvPr/>
        </p:nvSpPr>
        <p:spPr>
          <a:xfrm>
            <a:off x="4716000" y="1728000"/>
            <a:ext cx="4680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coerência funcional; não validação clínica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50" name="Rect329"/>
          <p:cNvSpPr/>
          <p:nvPr/>
        </p:nvSpPr>
        <p:spPr>
          <a:xfrm>
            <a:off x="450000" y="2214000"/>
            <a:ext cx="9180000" cy="511200"/>
          </a:xfrm>
          <a:prstGeom prst="rect">
            <a:avLst/>
          </a:prstGeom>
          <a:solidFill>
            <a:srgbClr val="f4f8f5"/>
          </a:solidFill>
          <a:ln w="12600">
            <a:solidFill>
              <a:srgbClr val="b7c8be"/>
            </a:solidFill>
            <a:round/>
          </a:ln>
        </p:spPr>
      </p:sp>
      <p:sp>
        <p:nvSpPr>
          <p:cNvPr id="351" name="Text330"/>
          <p:cNvSpPr txBox="1"/>
          <p:nvPr/>
        </p:nvSpPr>
        <p:spPr>
          <a:xfrm>
            <a:off x="558000" y="2286000"/>
            <a:ext cx="1512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Temperatura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52" name="Text331"/>
          <p:cNvSpPr txBox="1"/>
          <p:nvPr/>
        </p:nvSpPr>
        <p:spPr>
          <a:xfrm>
            <a:off x="2070000" y="2286000"/>
            <a:ext cx="2628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um ponto + transientes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53" name="Text332"/>
          <p:cNvSpPr txBox="1"/>
          <p:nvPr/>
        </p:nvSpPr>
        <p:spPr>
          <a:xfrm>
            <a:off x="4716000" y="2286000"/>
            <a:ext cx="4680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estabilidade/resposta; não calibração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54" name="Rect333"/>
          <p:cNvSpPr/>
          <p:nvPr/>
        </p:nvSpPr>
        <p:spPr>
          <a:xfrm>
            <a:off x="450000" y="2772000"/>
            <a:ext cx="9180000" cy="5112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355" name="Text334"/>
          <p:cNvSpPr txBox="1"/>
          <p:nvPr/>
        </p:nvSpPr>
        <p:spPr>
          <a:xfrm>
            <a:off x="558000" y="2844000"/>
            <a:ext cx="151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LTR390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56" name="Text335"/>
          <p:cNvSpPr txBox="1"/>
          <p:nvPr/>
        </p:nvSpPr>
        <p:spPr>
          <a:xfrm>
            <a:off x="2070000" y="2844000"/>
            <a:ext cx="2628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ambientes + lanternas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57" name="Text336"/>
          <p:cNvSpPr txBox="1"/>
          <p:nvPr/>
        </p:nvSpPr>
        <p:spPr>
          <a:xfrm>
            <a:off x="4716000" y="2844000"/>
            <a:ext cx="4680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resposta qualitativa e saturação da configuração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58" name="Rect337"/>
          <p:cNvSpPr/>
          <p:nvPr/>
        </p:nvSpPr>
        <p:spPr>
          <a:xfrm>
            <a:off x="450000" y="3330000"/>
            <a:ext cx="9180000" cy="511200"/>
          </a:xfrm>
          <a:prstGeom prst="rect">
            <a:avLst/>
          </a:prstGeom>
          <a:solidFill>
            <a:srgbClr val="f4f8f5"/>
          </a:solidFill>
          <a:ln w="12600">
            <a:solidFill>
              <a:srgbClr val="b7c8be"/>
            </a:solidFill>
            <a:round/>
          </a:ln>
        </p:spPr>
      </p:sp>
      <p:sp>
        <p:nvSpPr>
          <p:cNvPr id="359" name="Text338"/>
          <p:cNvSpPr txBox="1"/>
          <p:nvPr/>
        </p:nvSpPr>
        <p:spPr>
          <a:xfrm>
            <a:off x="558000" y="3402000"/>
            <a:ext cx="151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Bússola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60" name="Text339"/>
          <p:cNvSpPr txBox="1"/>
          <p:nvPr/>
        </p:nvSpPr>
        <p:spPr>
          <a:xfrm>
            <a:off x="2070000" y="3402000"/>
            <a:ext cx="2628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duas orientações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61" name="Text340"/>
          <p:cNvSpPr txBox="1"/>
          <p:nvPr/>
        </p:nvSpPr>
        <p:spPr>
          <a:xfrm>
            <a:off x="4716000" y="3402000"/>
            <a:ext cx="4680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resposta direcional; não exatidão geral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62" name="Rect341"/>
          <p:cNvSpPr/>
          <p:nvPr/>
        </p:nvSpPr>
        <p:spPr>
          <a:xfrm>
            <a:off x="450000" y="3888000"/>
            <a:ext cx="9180000" cy="5112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363" name="Text342"/>
          <p:cNvSpPr txBox="1"/>
          <p:nvPr/>
        </p:nvSpPr>
        <p:spPr>
          <a:xfrm>
            <a:off x="558000" y="3960000"/>
            <a:ext cx="151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Pedômetro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64" name="Text343"/>
          <p:cNvSpPr txBox="1"/>
          <p:nvPr/>
        </p:nvSpPr>
        <p:spPr>
          <a:xfrm>
            <a:off x="2070000" y="3960000"/>
            <a:ext cx="2628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um usuário, duas passagens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65" name="Text344"/>
          <p:cNvSpPr txBox="1"/>
          <p:nvPr/>
        </p:nvSpPr>
        <p:spPr>
          <a:xfrm>
            <a:off x="4716000" y="3960000"/>
            <a:ext cx="4680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resultado daquele cenário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66" name="Rect345"/>
          <p:cNvSpPr/>
          <p:nvPr/>
        </p:nvSpPr>
        <p:spPr>
          <a:xfrm>
            <a:off x="450000" y="4446000"/>
            <a:ext cx="9180000" cy="511200"/>
          </a:xfrm>
          <a:prstGeom prst="rect">
            <a:avLst/>
          </a:prstGeom>
          <a:solidFill>
            <a:srgbClr val="f4f8f5"/>
          </a:solidFill>
          <a:ln w="12600">
            <a:solidFill>
              <a:srgbClr val="b7c8be"/>
            </a:solidFill>
            <a:round/>
          </a:ln>
        </p:spPr>
      </p:sp>
      <p:sp>
        <p:nvSpPr>
          <p:cNvPr id="367" name="Text346"/>
          <p:cNvSpPr txBox="1"/>
          <p:nvPr/>
        </p:nvSpPr>
        <p:spPr>
          <a:xfrm>
            <a:off x="558000" y="4518000"/>
            <a:ext cx="151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Energia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68" name="Text347"/>
          <p:cNvSpPr txBox="1"/>
          <p:nvPr/>
        </p:nvSpPr>
        <p:spPr>
          <a:xfrm>
            <a:off x="2070000" y="4518000"/>
            <a:ext cx="2628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corrente total em nove cenários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69" name="Text348"/>
          <p:cNvSpPr txBox="1"/>
          <p:nvPr/>
        </p:nvSpPr>
        <p:spPr>
          <a:xfrm>
            <a:off x="4716000" y="4518000"/>
            <a:ext cx="4680000" cy="30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50" spc="-1" strike="noStrike">
                <a:solidFill>
                  <a:srgbClr val="263238"/>
                </a:solidFill>
                <a:latin typeface="Arial"/>
              </a:rPr>
              <a:t>sem decomposição e sem autonomia medida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370" name="Text350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Fonte: caderno de ensaios e capítulo de Resultados e Discussão.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351"/>
          <p:cNvSpPr txBox="1"/>
          <p:nvPr/>
        </p:nvSpPr>
        <p:spPr>
          <a:xfrm>
            <a:off x="1566000" y="331200"/>
            <a:ext cx="79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45982f"/>
                </a:solidFill>
                <a:latin typeface="Arial"/>
              </a:rPr>
              <a:t>Referências técnicas principais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372" name="Text352"/>
          <p:cNvSpPr txBox="1"/>
          <p:nvPr/>
        </p:nvSpPr>
        <p:spPr>
          <a:xfrm>
            <a:off x="8028000" y="784800"/>
            <a:ext cx="144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pt-BR" sz="1000" spc="-1" strike="noStrike">
                <a:solidFill>
                  <a:srgbClr val="00796b"/>
                </a:solidFill>
                <a:latin typeface="Arial"/>
              </a:rPr>
              <a:t>APOIO TÉCNICO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73" name="Rect353"/>
          <p:cNvSpPr/>
          <p:nvPr/>
        </p:nvSpPr>
        <p:spPr>
          <a:xfrm>
            <a:off x="486000" y="1116000"/>
            <a:ext cx="4392000" cy="3672000"/>
          </a:xfrm>
          <a:prstGeom prst="rect">
            <a:avLst/>
          </a:prstGeom>
          <a:solidFill>
            <a:srgbClr val="edf4fc"/>
          </a:solidFill>
          <a:ln w="12600">
            <a:solidFill>
              <a:srgbClr val="1565c0"/>
            </a:solidFill>
            <a:round/>
          </a:ln>
        </p:spPr>
      </p:sp>
      <p:sp>
        <p:nvSpPr>
          <p:cNvPr id="374" name="Text354"/>
          <p:cNvSpPr txBox="1"/>
          <p:nvPr/>
        </p:nvSpPr>
        <p:spPr>
          <a:xfrm>
            <a:off x="612000" y="1231200"/>
            <a:ext cx="41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Plataforma, RTOS e interfaces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75" name="Text355"/>
          <p:cNvSpPr txBox="1"/>
          <p:nvPr/>
        </p:nvSpPr>
        <p:spPr>
          <a:xfrm>
            <a:off x="666000" y="1530000"/>
            <a:ext cx="4032000" cy="30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ESPRESSIF SYSTEMS. ESP32-C6 series datasheet. Version 1.5, 2025.</a:t>
            </a:r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ESPRESSIF SYSTEMS. ESP-IDF Programming Guide v5.5.1: I2C, SPI, RMT, NVS e watchdogs, 2025.</a:t>
            </a:r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FREERTOS. The FreeRTOS kernel book, 2026.</a:t>
            </a:r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NXP SEMICONDUCTORS. UM10204: I2C-bus specification and user manual. Rev. 7.0, 2021.</a:t>
            </a:r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NXP SEMICONDUCTORS. PCF8563: real-time clock/calendar. Rev. 11.1, 2026.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76" name="Rect356"/>
          <p:cNvSpPr/>
          <p:nvPr/>
        </p:nvSpPr>
        <p:spPr>
          <a:xfrm>
            <a:off x="5130000" y="1116000"/>
            <a:ext cx="4464000" cy="3672000"/>
          </a:xfrm>
          <a:prstGeom prst="rect">
            <a:avLst/>
          </a:prstGeom>
          <a:solidFill>
            <a:srgbClr val="eaf6f3"/>
          </a:solidFill>
          <a:ln w="12600">
            <a:solidFill>
              <a:srgbClr val="00796b"/>
            </a:solidFill>
            <a:round/>
          </a:ln>
        </p:spPr>
      </p:sp>
      <p:sp>
        <p:nvSpPr>
          <p:cNvPr id="377" name="Text357"/>
          <p:cNvSpPr txBox="1"/>
          <p:nvPr/>
        </p:nvSpPr>
        <p:spPr>
          <a:xfrm>
            <a:off x="5256000" y="1231200"/>
            <a:ext cx="4212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00796b"/>
                </a:solidFill>
                <a:latin typeface="Arial"/>
              </a:rPr>
              <a:t>Sensores e processamento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78" name="Text358"/>
          <p:cNvSpPr txBox="1"/>
          <p:nvPr/>
        </p:nvSpPr>
        <p:spPr>
          <a:xfrm>
            <a:off x="5310000" y="1530000"/>
            <a:ext cx="4104000" cy="30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ANALOG DEVICES. MAX30102 datasheet e Application Note 6409, 2018.</a:t>
            </a:r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ANALOG DEVICES. DS18B20 programmable resolution 1-Wire digital thermometer. Rev. 6, 2019.</a:t>
            </a:r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LITE-ON TECHNOLOGY. LTR-390UV-01 datasheet. Rev. C, 2024.</a:t>
            </a:r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TDK INVENSENSE. MPU-9250 product specification e register map, 2016–2017.</a:t>
            </a:r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AKM. AK8963: 3-axis electronic compass, 2013.</a:t>
            </a:r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RENAUDIN; AFZAL; LACHAPELLE. Complete triaxis magnetometer calibration, 2010.</a:t>
            </a:r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• </a:t>
            </a:r>
            <a:r>
              <a:rPr b="0" lang="pt-BR" sz="1200" spc="-1" strike="noStrike">
                <a:solidFill>
                  <a:srgbClr val="263238"/>
                </a:solidFill>
                <a:latin typeface="Arial"/>
              </a:rPr>
              <a:t>LVGL. Documentation v8.3: Objects e Drawing, 2023.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79" name="Text360"/>
          <p:cNvSpPr txBox="1"/>
          <p:nvPr/>
        </p:nvSpPr>
        <p:spPr>
          <a:xfrm>
            <a:off x="432000" y="5191200"/>
            <a:ext cx="91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000" spc="-1" strike="noStrike">
                <a:solidFill>
                  <a:srgbClr val="5f6b70"/>
                </a:solidFill>
                <a:latin typeface="Arial"/>
              </a:rPr>
              <a:t>Referências completas: Rascunho/TCC_COMPLETO.tex. Acesso em: 1 jul. 2026.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2017-07-04T15:55:48Z</dcterms:created>
  <dc:creator/>
  <dc:description/>
  <dc:language>en-US</dc:language>
  <cp:lastModifiedBy/>
  <dcterms:modified xsi:type="dcterms:W3CDTF">2017-09-25T16:47:56Z</dcterms:modified>
  <cp:revision>6</cp:revision>
  <dc:subject/>
  <dc:title/>
</cp:coreProperties>
</file>